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47"/>
  </p:notesMasterIdLst>
  <p:sldIdLst>
    <p:sldId id="256" r:id="rId3"/>
    <p:sldId id="257" r:id="rId4"/>
    <p:sldId id="691" r:id="rId5"/>
    <p:sldId id="589" r:id="rId6"/>
    <p:sldId id="692" r:id="rId7"/>
    <p:sldId id="693" r:id="rId8"/>
    <p:sldId id="590" r:id="rId9"/>
    <p:sldId id="591" r:id="rId10"/>
    <p:sldId id="694" r:id="rId11"/>
    <p:sldId id="593" r:id="rId12"/>
    <p:sldId id="594" r:id="rId13"/>
    <p:sldId id="602" r:id="rId14"/>
    <p:sldId id="603" r:id="rId15"/>
    <p:sldId id="604" r:id="rId16"/>
    <p:sldId id="605" r:id="rId17"/>
    <p:sldId id="606" r:id="rId18"/>
    <p:sldId id="711" r:id="rId19"/>
    <p:sldId id="712" r:id="rId20"/>
    <p:sldId id="697" r:id="rId21"/>
    <p:sldId id="701" r:id="rId22"/>
    <p:sldId id="713" r:id="rId23"/>
    <p:sldId id="714" r:id="rId24"/>
    <p:sldId id="715" r:id="rId25"/>
    <p:sldId id="716" r:id="rId26"/>
    <p:sldId id="717" r:id="rId27"/>
    <p:sldId id="695" r:id="rId28"/>
    <p:sldId id="696" r:id="rId29"/>
    <p:sldId id="700" r:id="rId30"/>
    <p:sldId id="698" r:id="rId31"/>
    <p:sldId id="702" r:id="rId32"/>
    <p:sldId id="699" r:id="rId33"/>
    <p:sldId id="703" r:id="rId34"/>
    <p:sldId id="718" r:id="rId35"/>
    <p:sldId id="719" r:id="rId36"/>
    <p:sldId id="720" r:id="rId37"/>
    <p:sldId id="721" r:id="rId38"/>
    <p:sldId id="704" r:id="rId39"/>
    <p:sldId id="705" r:id="rId40"/>
    <p:sldId id="706" r:id="rId41"/>
    <p:sldId id="707" r:id="rId42"/>
    <p:sldId id="708" r:id="rId43"/>
    <p:sldId id="709" r:id="rId44"/>
    <p:sldId id="710" r:id="rId45"/>
    <p:sldId id="26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16C5F-8012-4047-B775-93DD14232925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CA542-F280-4B9E-92EE-A0DC02F0C8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784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594324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 fontAlgn="base"/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606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Dalam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OOP,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bisa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berupa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saja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orang,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rekening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bank,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mobil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rumah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Setiap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dan Method (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orang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umur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tinggi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badan,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serta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perilaku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berjalan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berbicara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l"/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https://dart-tutorial.com/</a:t>
            </a:r>
          </a:p>
        </p:txBody>
      </p:sp>
    </p:spTree>
    <p:extLst>
      <p:ext uri="{BB962C8B-B14F-4D97-AF65-F5344CB8AC3E}">
        <p14:creationId xmlns:p14="http://schemas.microsoft.com/office/powerpoint/2010/main" val="873757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Dalam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OOP,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bisa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berupa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saja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orang,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rekening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bank,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mobil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rumah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Setiap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dan Method (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orang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umur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tinggi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badan,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serta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perilaku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berjalan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berbicara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l"/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https://dart-tutorial.com/</a:t>
            </a:r>
          </a:p>
        </p:txBody>
      </p:sp>
    </p:spTree>
    <p:extLst>
      <p:ext uri="{BB962C8B-B14F-4D97-AF65-F5344CB8AC3E}">
        <p14:creationId xmlns:p14="http://schemas.microsoft.com/office/powerpoint/2010/main" val="3710800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Dalam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OOP,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bisa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berupa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saja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orang,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rekening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bank,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mobil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rumah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Setiap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dan Method (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orang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umur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tinggi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badan,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serta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perilaku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berjalan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berbicara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l"/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https://dart-tutorial.com/</a:t>
            </a:r>
          </a:p>
        </p:txBody>
      </p:sp>
    </p:spTree>
    <p:extLst>
      <p:ext uri="{BB962C8B-B14F-4D97-AF65-F5344CB8AC3E}">
        <p14:creationId xmlns:p14="http://schemas.microsoft.com/office/powerpoint/2010/main" val="2936944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89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76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839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arus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pedalFaster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brake.</a:t>
            </a:r>
          </a:p>
        </p:txBody>
      </p:sp>
    </p:spTree>
    <p:extLst>
      <p:ext uri="{BB962C8B-B14F-4D97-AF65-F5344CB8AC3E}">
        <p14:creationId xmlns:p14="http://schemas.microsoft.com/office/powerpoint/2010/main" val="322251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dideklarasikan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saat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membuat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endParaRPr lang="en-US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objectName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object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dideklarasikan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turunan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978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contoh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Bycycle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tiga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Kelas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dua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Salah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satunya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mengubah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method display()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mencetak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ketiga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tersebut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 algn="l"/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Tanda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tanya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type data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menyatakan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kalau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variable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tersebut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boleh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kosong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tidak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71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Kode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berikut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menjadi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body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tampilan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dideklarasikan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diluar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main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kode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di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144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arus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pedalFaster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brake.</a:t>
            </a:r>
          </a:p>
        </p:txBody>
      </p:sp>
    </p:spTree>
    <p:extLst>
      <p:ext uri="{BB962C8B-B14F-4D97-AF65-F5344CB8AC3E}">
        <p14:creationId xmlns:p14="http://schemas.microsoft.com/office/powerpoint/2010/main" val="2568422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sv-SE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Jika tidak mendefinisikan constructor didalam class, maka Anda perlu mengatur nilai properti secara manual. Misalnya, kode berikut membuat objek kelas Orang dan menetapkan nilai untuk properti nama dan usia.</a:t>
            </a:r>
          </a:p>
          <a:p>
            <a:r>
              <a:rPr lang="en-ID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D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:</a:t>
            </a:r>
            <a:endParaRPr lang="en-ID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person.name </a:t>
            </a:r>
            <a:r>
              <a:rPr lang="en-ID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person.age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D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Dapat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dilihat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perbedaan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Ketika </a:t>
            </a:r>
            <a:r>
              <a:rPr lang="en-ID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menggunakan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constructor dan </a:t>
            </a:r>
            <a:r>
              <a:rPr lang="en-ID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tanpa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menggunakan</a:t>
            </a:r>
            <a:r>
              <a:rPr lang="en-ID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constructor</a:t>
            </a:r>
          </a:p>
          <a:p>
            <a:pPr algn="l"/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531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Pertama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buat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mendeklarasikan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variable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saja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dipakai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Kemudian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variable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tersebut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dibuat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menjadi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constructor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kemudian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dipanggil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dikirimkan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main 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551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Pertama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buat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mendeklarasikan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variable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saja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dipakai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Kemudian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variable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tersebut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dibuat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menjadi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constructor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kemudian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dipanggil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dikirimkan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main 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066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Pertama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buat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mendeklarasikan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variable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saja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dipakai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Kemudian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variable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tersebut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dibuat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menjadi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constructor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kemudian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dipanggil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dikirimkan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main 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930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arus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pedalFaster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brake.</a:t>
            </a:r>
          </a:p>
        </p:txBody>
      </p:sp>
    </p:spTree>
    <p:extLst>
      <p:ext uri="{BB962C8B-B14F-4D97-AF65-F5344CB8AC3E}">
        <p14:creationId xmlns:p14="http://schemas.microsoft.com/office/powerpoint/2010/main" val="18585422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689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857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911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179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5462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7162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arus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pedalFaster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brake.</a:t>
            </a:r>
          </a:p>
        </p:txBody>
      </p:sp>
    </p:spTree>
    <p:extLst>
      <p:ext uri="{BB962C8B-B14F-4D97-AF65-F5344CB8AC3E}">
        <p14:creationId xmlns:p14="http://schemas.microsoft.com/office/powerpoint/2010/main" val="3036987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arus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pedalFaster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brake.</a:t>
            </a:r>
          </a:p>
        </p:txBody>
      </p:sp>
    </p:spTree>
    <p:extLst>
      <p:ext uri="{BB962C8B-B14F-4D97-AF65-F5344CB8AC3E}">
        <p14:creationId xmlns:p14="http://schemas.microsoft.com/office/powerpoint/2010/main" val="20851547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126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arus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pedalFaster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brake.</a:t>
            </a:r>
          </a:p>
        </p:txBody>
      </p:sp>
    </p:spTree>
    <p:extLst>
      <p:ext uri="{BB962C8B-B14F-4D97-AF65-F5344CB8AC3E}">
        <p14:creationId xmlns:p14="http://schemas.microsoft.com/office/powerpoint/2010/main" val="42131345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4426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arus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pedalFaster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brake.</a:t>
            </a:r>
          </a:p>
        </p:txBody>
      </p:sp>
    </p:spTree>
    <p:extLst>
      <p:ext uri="{BB962C8B-B14F-4D97-AF65-F5344CB8AC3E}">
        <p14:creationId xmlns:p14="http://schemas.microsoft.com/office/powerpoint/2010/main" val="20577847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9752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4411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8860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3246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594324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 fontAlgn="base"/>
            <a:endParaRPr lang="en-US" sz="1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3821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1215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8334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3646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Penjelasan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sintak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diatas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Keyword class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mendefinisikan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penamaan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adalah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diawali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huruf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capital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 badan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properties dan function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Properties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deklarasi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data.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fields dan attribute</a:t>
            </a:r>
          </a:p>
          <a:p>
            <a:pPr marL="171450" indent="-171450" algn="l">
              <a:buFontTx/>
              <a:buChar char="-"/>
            </a:pP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menampilkan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proses, yang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didalam</a:t>
            </a:r>
            <a:r>
              <a:rPr lang="en-US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endParaRPr lang="en-ID" sz="1200" b="0" i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7043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arus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pedalFaster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brake.</a:t>
            </a:r>
          </a:p>
        </p:txBody>
      </p:sp>
    </p:spTree>
    <p:extLst>
      <p:ext uri="{BB962C8B-B14F-4D97-AF65-F5344CB8AC3E}">
        <p14:creationId xmlns:p14="http://schemas.microsoft.com/office/powerpoint/2010/main" val="17728827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arus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pedalFaster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brake.</a:t>
            </a:r>
          </a:p>
        </p:txBody>
      </p:sp>
    </p:spTree>
    <p:extLst>
      <p:ext uri="{BB962C8B-B14F-4D97-AF65-F5344CB8AC3E}">
        <p14:creationId xmlns:p14="http://schemas.microsoft.com/office/powerpoint/2010/main" val="8013872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/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Misalnya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sepeda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atribut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warna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kecepatan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arus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Itu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mungkin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memiliki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seperti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changeGear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2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pedalFaster</a:t>
            </a:r>
            <a:r>
              <a:rPr lang="en-ID" sz="1200" b="0" i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dan brake.</a:t>
            </a:r>
          </a:p>
        </p:txBody>
      </p:sp>
    </p:spTree>
    <p:extLst>
      <p:ext uri="{BB962C8B-B14F-4D97-AF65-F5344CB8AC3E}">
        <p14:creationId xmlns:p14="http://schemas.microsoft.com/office/powerpoint/2010/main" val="35872987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66725" y="1009650"/>
            <a:ext cx="6645275" cy="3738563"/>
          </a:xfrm>
          <a:prstGeom prst="rect">
            <a:avLst/>
          </a:prstGeom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817200" y="5096520"/>
            <a:ext cx="6034680" cy="4486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en-US" sz="1200" b="0" strike="noStrike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Referensi</a:t>
            </a:r>
            <a:r>
              <a:rPr lang="en-US" sz="12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strike="noStrike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diakses</a:t>
            </a:r>
            <a:r>
              <a:rPr lang="en-US" sz="12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strike="noStrike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terakhir</a:t>
            </a:r>
            <a:r>
              <a:rPr lang="en-US" sz="12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strike="noStrike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12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strike="noStrike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websitenya</a:t>
            </a:r>
            <a:r>
              <a:rPr lang="en-US" sz="12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1200" b="0" strike="noStrike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bulan</a:t>
            </a:r>
            <a:r>
              <a:rPr lang="en-US" sz="12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strike="noStrike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Oktober</a:t>
            </a:r>
            <a:r>
              <a:rPr lang="en-US" sz="12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2020.</a:t>
            </a:r>
            <a:endParaRPr lang="id-ID" sz="12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41" y="1604514"/>
            <a:ext cx="10972503" cy="397715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d-ID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4373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41" y="1604514"/>
            <a:ext cx="10972503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011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41" y="1604514"/>
            <a:ext cx="5354377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231957" y="1604514"/>
            <a:ext cx="5354377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5616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8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609441" y="273352"/>
            <a:ext cx="10972503" cy="53073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d-ID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423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41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31957" y="1604514"/>
            <a:ext cx="5354377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609441" y="368192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03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41" y="1604514"/>
            <a:ext cx="5354377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57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231957" y="368192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171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41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57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441" y="3681925"/>
            <a:ext cx="109725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539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41" y="1604515"/>
            <a:ext cx="109725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09441" y="3681925"/>
            <a:ext cx="109725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305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41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1957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441" y="368192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231957" y="368192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2255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41" y="160451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319497" y="160451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8029553" y="160451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9441" y="368192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4319497" y="368192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8029553" y="368192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2525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497F-68E7-4344-B65A-52290B153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AB80A-1264-4AE5-961C-780855529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1DC67-FC59-416E-8978-335686959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46F58-2570-42D0-85DC-4B1977EE3F9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2A432-44B6-4CD4-BB09-6A742AD8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D233F-2160-4D2F-968B-16C69785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68A8E-2F30-4B7F-9224-3F42C94DBC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1067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5AA97B-3904-4AB1-A67E-6217E7B9C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94976" y="201507"/>
            <a:ext cx="1811212" cy="50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675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41" y="1604514"/>
            <a:ext cx="10972503" cy="397715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d-ID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776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059350" y="2543637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41" y="1604514"/>
            <a:ext cx="10972503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2F01D8-AF38-4E4A-AA80-6C514BF28E04}"/>
              </a:ext>
            </a:extLst>
          </p:cNvPr>
          <p:cNvSpPr/>
          <p:nvPr userDrawn="1"/>
        </p:nvSpPr>
        <p:spPr>
          <a:xfrm>
            <a:off x="1" y="2543637"/>
            <a:ext cx="12192000" cy="201706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33" dirty="0"/>
          </a:p>
        </p:txBody>
      </p:sp>
    </p:spTree>
    <p:extLst>
      <p:ext uri="{BB962C8B-B14F-4D97-AF65-F5344CB8AC3E}">
        <p14:creationId xmlns:p14="http://schemas.microsoft.com/office/powerpoint/2010/main" val="3134555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41" y="1604514"/>
            <a:ext cx="5354377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231957" y="1604514"/>
            <a:ext cx="5354377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6368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2169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09441" y="273352"/>
            <a:ext cx="10972503" cy="53073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d-ID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27127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41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57" y="1604514"/>
            <a:ext cx="5354377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09441" y="368192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4855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41" y="1604514"/>
            <a:ext cx="5354377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57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231957" y="368192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3036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41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57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09441" y="3681925"/>
            <a:ext cx="109725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70338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41" y="1604515"/>
            <a:ext cx="109725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09441" y="3681925"/>
            <a:ext cx="109725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72240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41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57" y="160451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09441" y="368192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6231957" y="3681925"/>
            <a:ext cx="5354377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3606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41" y="273352"/>
            <a:ext cx="10972503" cy="114468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d-ID" sz="16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41" y="160451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319497" y="160451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8029553" y="160451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09441" y="368192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4319497" y="368192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8029553" y="3681925"/>
            <a:ext cx="3533003" cy="18968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54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7990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8709" y="175376"/>
            <a:ext cx="10972503" cy="114468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92" b="1" strike="noStrike" spc="-1">
                <a:solidFill>
                  <a:srgbClr val="04617B"/>
                </a:solidFill>
                <a:latin typeface="Arial"/>
                <a:ea typeface="DejaVu Sans"/>
              </a:rPr>
              <a:t>Click to edit Master title style</a:t>
            </a:r>
            <a:endParaRPr lang="id-ID" sz="3992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41" y="1604514"/>
            <a:ext cx="10972503" cy="3977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254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83821" lvl="1" indent="-293933">
              <a:spcBef>
                <a:spcPts val="102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d-ID" sz="1814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75731" lvl="2" indent="-261274">
              <a:spcBef>
                <a:spcPts val="77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1633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567642" lvl="3" indent="-195955">
              <a:spcBef>
                <a:spcPts val="5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d-ID" sz="1633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1959552" lvl="4" indent="-195955">
              <a:spcBef>
                <a:spcPts val="2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1814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351462" lvl="5" indent="-195955">
              <a:spcBef>
                <a:spcPts val="2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1814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743373" lvl="6" indent="-195955">
              <a:spcBef>
                <a:spcPts val="2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1814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64139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829544" rtl="0" eaLnBrk="1" latinLnBrk="0" hangingPunct="1">
        <a:lnSpc>
          <a:spcPct val="90000"/>
        </a:lnSpc>
        <a:spcBef>
          <a:spcPct val="0"/>
        </a:spcBef>
        <a:buNone/>
        <a:defRPr sz="3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910" indent="-293933" algn="l" defTabSz="829544" rtl="0" eaLnBrk="1" latinLnBrk="0" hangingPunct="1">
        <a:lnSpc>
          <a:spcPct val="90000"/>
        </a:lnSpc>
        <a:spcBef>
          <a:spcPts val="1286"/>
        </a:spcBef>
        <a:buClr>
          <a:srgbClr val="000000"/>
        </a:buClr>
        <a:buSzPct val="45000"/>
        <a:buFont typeface="Wingdings" charset="2"/>
        <a:buChar char=""/>
        <a:defRPr sz="2540" kern="1200">
          <a:solidFill>
            <a:schemeClr val="tx1"/>
          </a:solidFill>
          <a:latin typeface="+mn-lt"/>
          <a:ea typeface="+mn-ea"/>
          <a:cs typeface="+mn-cs"/>
        </a:defRPr>
      </a:lvl1pPr>
      <a:lvl2pPr marL="622158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2pPr>
      <a:lvl3pPr marL="1036930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3pPr>
      <a:lvl4pPr marL="1451701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866473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281245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6017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0789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5561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72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544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316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9087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859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631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3403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8175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8709" y="175376"/>
            <a:ext cx="10972503" cy="114468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ctr"/>
            <a:r>
              <a:rPr lang="id-ID" sz="3992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84102" y="1244291"/>
            <a:ext cx="11415866" cy="491674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254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83821" lvl="1" indent="-293933" algn="ctr">
              <a:spcBef>
                <a:spcPts val="102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d-ID" sz="254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75731" lvl="2" indent="-261274" algn="ctr">
              <a:spcBef>
                <a:spcPts val="77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254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567642" lvl="3" indent="-195955" algn="ctr">
              <a:spcBef>
                <a:spcPts val="51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d-ID" sz="254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1959552" lvl="4" indent="-195955" algn="ctr">
              <a:spcBef>
                <a:spcPts val="2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254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351462" lvl="5" indent="-195955" algn="ctr">
              <a:spcBef>
                <a:spcPts val="2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254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743373" lvl="6" indent="-195955" algn="ctr">
              <a:spcBef>
                <a:spcPts val="2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254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85332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829544" rtl="0" eaLnBrk="1" latinLnBrk="0" hangingPunct="1">
        <a:lnSpc>
          <a:spcPct val="90000"/>
        </a:lnSpc>
        <a:spcBef>
          <a:spcPct val="0"/>
        </a:spcBef>
        <a:buNone/>
        <a:defRPr sz="3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910" indent="-293933" algn="ctr" defTabSz="829544" rtl="0" eaLnBrk="1" latinLnBrk="0" hangingPunct="1">
        <a:lnSpc>
          <a:spcPct val="90000"/>
        </a:lnSpc>
        <a:spcBef>
          <a:spcPts val="1286"/>
        </a:spcBef>
        <a:buClr>
          <a:srgbClr val="000000"/>
        </a:buClr>
        <a:buSzPct val="45000"/>
        <a:buFont typeface="Wingdings" charset="2"/>
        <a:buChar char=""/>
        <a:defRPr sz="2540" kern="1200">
          <a:solidFill>
            <a:schemeClr val="tx1"/>
          </a:solidFill>
          <a:latin typeface="+mn-lt"/>
          <a:ea typeface="+mn-ea"/>
          <a:cs typeface="+mn-cs"/>
        </a:defRPr>
      </a:lvl1pPr>
      <a:lvl2pPr marL="622158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2pPr>
      <a:lvl3pPr marL="1036930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3pPr>
      <a:lvl4pPr marL="1451701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866473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281245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6017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0789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5561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72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544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316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9087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859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631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3403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8175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054C9-919F-4BB7-AA84-09153C9B6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4745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OOP 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(Object Oriented Programming)</a:t>
            </a:r>
            <a:endParaRPr lang="en-ID" b="1" dirty="0">
              <a:solidFill>
                <a:srgbClr val="0070C0"/>
              </a:solidFill>
            </a:endParaRPr>
          </a:p>
        </p:txBody>
      </p:sp>
      <p:sp>
        <p:nvSpPr>
          <p:cNvPr id="4" name="AutoShape 2" descr="Flutter Logo PNG Vectors Free Download">
            <a:extLst>
              <a:ext uri="{FF2B5EF4-FFF2-40B4-BE49-F238E27FC236}">
                <a16:creationId xmlns:a16="http://schemas.microsoft.com/office/drawing/2014/main" id="{E92B4DB0-CA40-4121-A3B9-5B7FD01C25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56FCF7F5-ACE2-4A07-9E8D-4BF9B0AA3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611" y="2886500"/>
            <a:ext cx="4452778" cy="138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417FD6-BE36-4F4C-A7EB-CA051F61F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236" y="5183908"/>
            <a:ext cx="2724327" cy="76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FD0D91-3255-4FBA-B85B-A50FD6C4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Tujuan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72EFA1E-9E90-48A6-BD08-C731883A435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41" y="1659932"/>
            <a:ext cx="10972503" cy="3977158"/>
          </a:xfrm>
        </p:spPr>
        <p:txBody>
          <a:bodyPr/>
          <a:lstStyle/>
          <a:p>
            <a:r>
              <a:rPr lang="en-US" sz="2800" dirty="0"/>
              <a:t>Setelah mengikuti </a:t>
            </a:r>
            <a:r>
              <a:rPr lang="en-US" sz="2800" dirty="0" err="1"/>
              <a:t>pelatihan</a:t>
            </a:r>
            <a:r>
              <a:rPr lang="en-US" sz="2800" dirty="0"/>
              <a:t> ini peserta </a:t>
            </a:r>
            <a:r>
              <a:rPr lang="en-US" sz="2800" dirty="0" err="1"/>
              <a:t>diharapkan</a:t>
            </a:r>
            <a:r>
              <a:rPr lang="en-US" sz="2800" dirty="0"/>
              <a:t> </a:t>
            </a:r>
            <a:r>
              <a:rPr lang="en-US" sz="2800" dirty="0" err="1"/>
              <a:t>mampu</a:t>
            </a:r>
            <a:r>
              <a:rPr lang="en-US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Mengerti</a:t>
            </a:r>
            <a:r>
              <a:rPr lang="en-US" sz="2800" dirty="0"/>
              <a:t> dan </a:t>
            </a:r>
            <a:r>
              <a:rPr lang="en-US" sz="2800" dirty="0" err="1"/>
              <a:t>memahami</a:t>
            </a:r>
            <a:r>
              <a:rPr lang="en-US" sz="2800" dirty="0"/>
              <a:t> </a:t>
            </a:r>
            <a:r>
              <a:rPr lang="en-US" sz="2800" dirty="0" err="1"/>
              <a:t>sintak</a:t>
            </a:r>
            <a:r>
              <a:rPr lang="en-US" sz="2800" dirty="0"/>
              <a:t> dan </a:t>
            </a:r>
            <a:r>
              <a:rPr lang="en-US" sz="2800" dirty="0" err="1"/>
              <a:t>struktur</a:t>
            </a:r>
            <a:r>
              <a:rPr lang="en-US" sz="2800" dirty="0"/>
              <a:t> </a:t>
            </a:r>
            <a:r>
              <a:rPr lang="en-US" sz="2800" dirty="0" err="1"/>
              <a:t>bahasa</a:t>
            </a:r>
            <a:r>
              <a:rPr lang="en-US" sz="2800" dirty="0"/>
              <a:t> </a:t>
            </a:r>
            <a:r>
              <a:rPr lang="en-US" sz="2800" dirty="0" err="1"/>
              <a:t>pemrograman</a:t>
            </a:r>
            <a:r>
              <a:rPr lang="en-US" sz="2800" dirty="0"/>
              <a:t> dart.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Mampu </a:t>
            </a:r>
            <a:r>
              <a:rPr lang="en-US" sz="2800" dirty="0" err="1"/>
              <a:t>mengembangkan</a:t>
            </a:r>
            <a:r>
              <a:rPr lang="en-US" sz="2800" dirty="0"/>
              <a:t> program atau </a:t>
            </a:r>
            <a:r>
              <a:rPr lang="en-US" sz="2800" dirty="0" err="1"/>
              <a:t>aplikasi</a:t>
            </a:r>
            <a:r>
              <a:rPr lang="en-US" sz="2800" dirty="0"/>
              <a:t> </a:t>
            </a:r>
            <a:r>
              <a:rPr lang="en-US" sz="2800" dirty="0" err="1"/>
              <a:t>tingkat</a:t>
            </a:r>
            <a:r>
              <a:rPr lang="en-US" sz="2800" dirty="0"/>
              <a:t> </a:t>
            </a:r>
            <a:r>
              <a:rPr lang="en-US" sz="2800" dirty="0" err="1"/>
              <a:t>menengah</a:t>
            </a:r>
            <a:r>
              <a:rPr lang="en-US" sz="2800" dirty="0"/>
              <a:t> </a:t>
            </a:r>
            <a:r>
              <a:rPr lang="en-US" sz="2800" dirty="0" err="1"/>
              <a:t>menggunakan</a:t>
            </a:r>
            <a:r>
              <a:rPr lang="en-US" sz="2800" dirty="0"/>
              <a:t> dart.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Mampu </a:t>
            </a:r>
            <a:r>
              <a:rPr lang="en-US" sz="2800" dirty="0" err="1"/>
              <a:t>menggunakan</a:t>
            </a:r>
            <a:r>
              <a:rPr lang="en-US" sz="2800" dirty="0"/>
              <a:t> </a:t>
            </a:r>
            <a:r>
              <a:rPr lang="en-US" sz="2800" dirty="0" err="1"/>
              <a:t>berbagai</a:t>
            </a:r>
            <a:r>
              <a:rPr lang="en-US" sz="2800" dirty="0"/>
              <a:t> </a:t>
            </a:r>
            <a:r>
              <a:rPr lang="en-US" sz="2800" dirty="0" err="1"/>
              <a:t>pustaka</a:t>
            </a:r>
            <a:r>
              <a:rPr lang="en-US" sz="2800" dirty="0"/>
              <a:t> (library) penting pada program atau </a:t>
            </a:r>
            <a:r>
              <a:rPr lang="en-US" sz="2800" dirty="0" err="1"/>
              <a:t>aplikasi</a:t>
            </a:r>
            <a:r>
              <a:rPr lang="en-US" sz="2800" dirty="0"/>
              <a:t> dart yang dibuat </a:t>
            </a:r>
            <a:r>
              <a:rPr lang="en-US" sz="2800" dirty="0" err="1"/>
              <a:t>sendiri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Memahami</a:t>
            </a:r>
            <a:r>
              <a:rPr lang="en-US" sz="2800" dirty="0"/>
              <a:t> </a:t>
            </a:r>
            <a:r>
              <a:rPr lang="en-US" sz="2800" dirty="0" err="1"/>
              <a:t>konsep</a:t>
            </a:r>
            <a:r>
              <a:rPr lang="en-US" sz="2800" dirty="0"/>
              <a:t> OOP </a:t>
            </a:r>
            <a:r>
              <a:rPr lang="en-US" sz="2800" dirty="0" err="1"/>
              <a:t>menggunakan</a:t>
            </a:r>
            <a:r>
              <a:rPr lang="en-US" sz="2800" dirty="0"/>
              <a:t> Bahasa </a:t>
            </a:r>
            <a:r>
              <a:rPr lang="en-US" sz="2800" dirty="0" err="1"/>
              <a:t>pemrograman</a:t>
            </a:r>
            <a:r>
              <a:rPr lang="en-US" sz="2800" dirty="0"/>
              <a:t> dart</a:t>
            </a:r>
          </a:p>
        </p:txBody>
      </p:sp>
    </p:spTree>
    <p:extLst>
      <p:ext uri="{BB962C8B-B14F-4D97-AF65-F5344CB8AC3E}">
        <p14:creationId xmlns:p14="http://schemas.microsoft.com/office/powerpoint/2010/main" val="4184317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F3A7-4BA0-448E-B0DE-865BDBAB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35" y="2856659"/>
            <a:ext cx="9795931" cy="114468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n-lt"/>
              </a:rPr>
              <a:t>OOP</a:t>
            </a:r>
            <a:endParaRPr lang="en-ID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2030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OOP Dart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8"/>
            <a:ext cx="10223921" cy="471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Pemrograman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berorientasi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(OOP)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metode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pemrograman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menggunakan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interaksinya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merancang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memprogram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aplikasi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Oop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salah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satu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paradigma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pemrograman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paling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populer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digunakan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banyak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bahasa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pemrograman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seperti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Dart, Java, C++, Python,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dll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5007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OOP Dart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8"/>
            <a:ext cx="1022392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3200" dirty="0"/>
              <a:t>Object-Oriented Programming (OOP) </a:t>
            </a:r>
            <a:r>
              <a:rPr lang="en-ID" sz="3200" dirty="0" err="1"/>
              <a:t>adalah</a:t>
            </a:r>
            <a:r>
              <a:rPr lang="en-ID" sz="3200" dirty="0"/>
              <a:t> </a:t>
            </a:r>
            <a:r>
              <a:rPr lang="en-ID" sz="3200" dirty="0" err="1"/>
              <a:t>paradigma</a:t>
            </a:r>
            <a:r>
              <a:rPr lang="en-ID" sz="3200" dirty="0"/>
              <a:t> </a:t>
            </a:r>
            <a:r>
              <a:rPr lang="en-ID" sz="3200" dirty="0" err="1"/>
              <a:t>pemrograman</a:t>
            </a:r>
            <a:r>
              <a:rPr lang="en-ID" sz="3200" dirty="0"/>
              <a:t> yang </a:t>
            </a:r>
            <a:r>
              <a:rPr lang="en-ID" sz="3200" dirty="0" err="1"/>
              <a:t>berfokus</a:t>
            </a:r>
            <a:r>
              <a:rPr lang="en-ID" sz="3200" dirty="0"/>
              <a:t> pada </a:t>
            </a:r>
            <a:r>
              <a:rPr lang="en-ID" sz="3200" dirty="0" err="1"/>
              <a:t>konsep</a:t>
            </a:r>
            <a:r>
              <a:rPr lang="en-ID" sz="3200" dirty="0"/>
              <a:t> "</a:t>
            </a:r>
            <a:r>
              <a:rPr lang="en-ID" sz="3200" dirty="0" err="1"/>
              <a:t>objek</a:t>
            </a:r>
            <a:r>
              <a:rPr lang="en-ID" sz="3200" dirty="0"/>
              <a:t>". </a:t>
            </a:r>
            <a:r>
              <a:rPr lang="en-ID" sz="3200" dirty="0" err="1"/>
              <a:t>Objek</a:t>
            </a:r>
            <a:r>
              <a:rPr lang="en-ID" sz="3200" dirty="0"/>
              <a:t> </a:t>
            </a:r>
            <a:r>
              <a:rPr lang="en-ID" sz="3200" dirty="0" err="1"/>
              <a:t>adalah</a:t>
            </a:r>
            <a:r>
              <a:rPr lang="en-ID" sz="3200" dirty="0"/>
              <a:t> </a:t>
            </a:r>
            <a:r>
              <a:rPr lang="en-ID" sz="3200" dirty="0" err="1"/>
              <a:t>representasi</a:t>
            </a:r>
            <a:r>
              <a:rPr lang="en-ID" sz="3200" dirty="0"/>
              <a:t> </a:t>
            </a:r>
            <a:r>
              <a:rPr lang="en-ID" sz="3200" dirty="0" err="1"/>
              <a:t>dari</a:t>
            </a:r>
            <a:r>
              <a:rPr lang="en-ID" sz="3200" dirty="0"/>
              <a:t> </a:t>
            </a:r>
            <a:r>
              <a:rPr lang="en-ID" sz="3200" dirty="0" err="1"/>
              <a:t>entitas</a:t>
            </a:r>
            <a:r>
              <a:rPr lang="en-ID" sz="3200" dirty="0"/>
              <a:t> dunia </a:t>
            </a:r>
            <a:r>
              <a:rPr lang="en-ID" sz="3200" dirty="0" err="1"/>
              <a:t>nyata</a:t>
            </a:r>
            <a:r>
              <a:rPr lang="en-ID" sz="3200" dirty="0"/>
              <a:t> yang </a:t>
            </a:r>
            <a:r>
              <a:rPr lang="en-ID" sz="3200" dirty="0" err="1"/>
              <a:t>memiliki</a:t>
            </a:r>
            <a:r>
              <a:rPr lang="en-ID" sz="3200" dirty="0"/>
              <a:t> </a:t>
            </a:r>
            <a:r>
              <a:rPr lang="en-ID" sz="3200" b="1" dirty="0" err="1"/>
              <a:t>atribut</a:t>
            </a:r>
            <a:r>
              <a:rPr lang="en-ID" sz="3200" dirty="0"/>
              <a:t> (properties) dan </a:t>
            </a:r>
            <a:r>
              <a:rPr lang="en-ID" sz="3200" b="1" dirty="0" err="1"/>
              <a:t>perilaku</a:t>
            </a:r>
            <a:r>
              <a:rPr lang="en-ID" sz="3200" dirty="0"/>
              <a:t> (methods). Dart </a:t>
            </a:r>
            <a:r>
              <a:rPr lang="en-ID" sz="3200" dirty="0" err="1"/>
              <a:t>adalah</a:t>
            </a:r>
            <a:r>
              <a:rPr lang="en-ID" sz="3200" dirty="0"/>
              <a:t> </a:t>
            </a:r>
            <a:r>
              <a:rPr lang="en-ID" sz="3200" dirty="0" err="1"/>
              <a:t>bahasa</a:t>
            </a:r>
            <a:r>
              <a:rPr lang="en-ID" sz="3200" dirty="0"/>
              <a:t> </a:t>
            </a:r>
            <a:r>
              <a:rPr lang="en-ID" sz="3200" dirty="0" err="1"/>
              <a:t>pemrograman</a:t>
            </a:r>
            <a:r>
              <a:rPr lang="en-ID" sz="3200" dirty="0"/>
              <a:t> yang </a:t>
            </a:r>
            <a:r>
              <a:rPr lang="en-ID" sz="3200" dirty="0" err="1"/>
              <a:t>mendukung</a:t>
            </a:r>
            <a:r>
              <a:rPr lang="en-ID" sz="3200" dirty="0"/>
              <a:t> OOP </a:t>
            </a:r>
            <a:r>
              <a:rPr lang="en-ID" sz="3200" dirty="0" err="1"/>
              <a:t>dengan</a:t>
            </a:r>
            <a:r>
              <a:rPr lang="en-ID" sz="3200" dirty="0"/>
              <a:t> </a:t>
            </a:r>
            <a:r>
              <a:rPr lang="en-ID" sz="3200" dirty="0" err="1"/>
              <a:t>fitur-fitur</a:t>
            </a:r>
            <a:r>
              <a:rPr lang="en-ID" sz="3200" dirty="0"/>
              <a:t> </a:t>
            </a:r>
            <a:r>
              <a:rPr lang="en-ID" sz="3200" dirty="0" err="1"/>
              <a:t>seperti</a:t>
            </a:r>
            <a:r>
              <a:rPr lang="en-ID" sz="3200" dirty="0"/>
              <a:t> </a:t>
            </a:r>
            <a:r>
              <a:rPr lang="en-ID" sz="3200" b="1" dirty="0"/>
              <a:t>class</a:t>
            </a:r>
            <a:r>
              <a:rPr lang="en-ID" sz="3200" dirty="0"/>
              <a:t>, </a:t>
            </a:r>
            <a:r>
              <a:rPr lang="en-ID" sz="3200" b="1" dirty="0"/>
              <a:t>inheritance</a:t>
            </a:r>
            <a:r>
              <a:rPr lang="en-ID" sz="3200" dirty="0"/>
              <a:t>, </a:t>
            </a:r>
            <a:r>
              <a:rPr lang="en-ID" sz="3200" b="1" dirty="0"/>
              <a:t>polymorphism</a:t>
            </a:r>
            <a:r>
              <a:rPr lang="en-ID" sz="3200" dirty="0"/>
              <a:t>, dan </a:t>
            </a:r>
            <a:r>
              <a:rPr lang="en-ID" sz="3200" b="1" dirty="0"/>
              <a:t>encapsulation</a:t>
            </a:r>
            <a:r>
              <a:rPr lang="en-ID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004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Konsep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utama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OOP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8"/>
            <a:ext cx="1022392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dirty="0" err="1"/>
              <a:t>Beberapa</a:t>
            </a:r>
            <a:r>
              <a:rPr lang="en-ID" sz="3200" dirty="0"/>
              <a:t> </a:t>
            </a:r>
            <a:r>
              <a:rPr lang="en-ID" sz="3200" dirty="0" err="1"/>
              <a:t>konsep</a:t>
            </a:r>
            <a:r>
              <a:rPr lang="en-ID" sz="3200" dirty="0"/>
              <a:t> yang </a:t>
            </a:r>
            <a:r>
              <a:rPr lang="en-ID" sz="3200" dirty="0" err="1"/>
              <a:t>ada</a:t>
            </a:r>
            <a:r>
              <a:rPr lang="en-ID" sz="3200" dirty="0"/>
              <a:t> di OOP:</a:t>
            </a:r>
          </a:p>
          <a:p>
            <a:pPr marL="514350" indent="-514350">
              <a:buAutoNum type="arabicPeriod"/>
            </a:pPr>
            <a:r>
              <a:rPr lang="en-ID" sz="3200" dirty="0"/>
              <a:t>Class</a:t>
            </a:r>
          </a:p>
          <a:p>
            <a:pPr marL="514350" indent="-514350">
              <a:buAutoNum type="arabicPeriod"/>
            </a:pPr>
            <a:r>
              <a:rPr lang="en-ID" sz="3200" dirty="0"/>
              <a:t>Object</a:t>
            </a:r>
          </a:p>
          <a:p>
            <a:pPr marL="514350" indent="-514350">
              <a:buAutoNum type="arabicPeriod"/>
            </a:pPr>
            <a:r>
              <a:rPr lang="en-ID" sz="3200" dirty="0"/>
              <a:t>Encapsulation</a:t>
            </a:r>
          </a:p>
          <a:p>
            <a:pPr marL="514350" indent="-514350">
              <a:buAutoNum type="arabicPeriod"/>
            </a:pPr>
            <a:r>
              <a:rPr lang="en-ID" sz="3200" dirty="0"/>
              <a:t>Inheritance</a:t>
            </a:r>
          </a:p>
          <a:p>
            <a:pPr marL="514350" indent="-514350">
              <a:buAutoNum type="arabicPeriod"/>
            </a:pPr>
            <a:r>
              <a:rPr lang="en-ID" sz="3200" dirty="0"/>
              <a:t>Polymorphism</a:t>
            </a:r>
          </a:p>
          <a:p>
            <a:pPr marL="514350" indent="-514350">
              <a:buAutoNum type="arabicPeriod"/>
            </a:pPr>
            <a:r>
              <a:rPr lang="en-ID" sz="3200" dirty="0"/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4280606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Class 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404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pemrograman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berorientasi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, class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blue print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membuat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. class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mendefinisikan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properti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metode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akan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dimiliki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Misalnya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kelas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disebut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Person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mungkin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memiliki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properti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seperti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nama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umur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, dan method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seperti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lari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, duduk.</a:t>
            </a:r>
          </a:p>
        </p:txBody>
      </p:sp>
    </p:spTree>
    <p:extLst>
      <p:ext uri="{BB962C8B-B14F-4D97-AF65-F5344CB8AC3E}">
        <p14:creationId xmlns:p14="http://schemas.microsoft.com/office/powerpoint/2010/main" val="3379028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Class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903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903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2903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2903" b="1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properties or fields</a:t>
            </a:r>
          </a:p>
          <a:p>
            <a:r>
              <a:rPr lang="en-US" sz="2903" b="1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methods or functions</a:t>
            </a:r>
          </a:p>
          <a:p>
            <a:r>
              <a:rPr lang="en-US" sz="2903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3753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Fitur </a:t>
            </a: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utama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class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444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Atribut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(properties) :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v</a:t>
            </a:r>
            <a:r>
              <a:rPr lang="en-ID" sz="3200" dirty="0" err="1"/>
              <a:t>ariabel</a:t>
            </a:r>
            <a:r>
              <a:rPr lang="en-ID" sz="3200" dirty="0"/>
              <a:t> yang </a:t>
            </a:r>
            <a:r>
              <a:rPr lang="en-ID" sz="3200" dirty="0" err="1"/>
              <a:t>menggambarkan</a:t>
            </a:r>
            <a:r>
              <a:rPr lang="en-ID" sz="3200" dirty="0"/>
              <a:t> </a:t>
            </a:r>
            <a:r>
              <a:rPr lang="en-ID" sz="3200" dirty="0" err="1"/>
              <a:t>karakteristik</a:t>
            </a:r>
            <a:r>
              <a:rPr lang="en-ID" sz="3200" dirty="0"/>
              <a:t> </a:t>
            </a:r>
            <a:r>
              <a:rPr lang="en-ID" sz="3200" dirty="0" err="1"/>
              <a:t>atau</a:t>
            </a:r>
            <a:r>
              <a:rPr lang="en-ID" sz="3200" dirty="0"/>
              <a:t> </a:t>
            </a:r>
            <a:r>
              <a:rPr lang="en-ID" sz="3200" dirty="0" err="1"/>
              <a:t>keadaan</a:t>
            </a:r>
            <a:r>
              <a:rPr lang="en-ID" sz="3200" dirty="0"/>
              <a:t> </a:t>
            </a:r>
            <a:r>
              <a:rPr lang="en-ID" sz="3200" dirty="0" err="1"/>
              <a:t>dari</a:t>
            </a:r>
            <a:r>
              <a:rPr lang="en-ID" sz="3200" dirty="0"/>
              <a:t> </a:t>
            </a:r>
            <a:r>
              <a:rPr lang="en-ID" sz="3200" dirty="0" err="1"/>
              <a:t>sebuah</a:t>
            </a:r>
            <a:r>
              <a:rPr lang="en-ID" sz="3200" dirty="0"/>
              <a:t> class.</a:t>
            </a:r>
            <a:endParaRPr lang="en-ID" sz="2903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Method : </a:t>
            </a:r>
            <a:r>
              <a:rPr lang="en-ID" sz="3200" dirty="0" err="1"/>
              <a:t>Fungsi</a:t>
            </a:r>
            <a:r>
              <a:rPr lang="en-ID" sz="3200" dirty="0"/>
              <a:t> di </a:t>
            </a:r>
            <a:r>
              <a:rPr lang="en-ID" sz="3200" dirty="0" err="1"/>
              <a:t>dalam</a:t>
            </a:r>
            <a:r>
              <a:rPr lang="en-ID" sz="3200" dirty="0"/>
              <a:t> class yang </a:t>
            </a:r>
            <a:r>
              <a:rPr lang="en-ID" sz="3200" dirty="0" err="1"/>
              <a:t>menggambarkan</a:t>
            </a:r>
            <a:r>
              <a:rPr lang="en-ID" sz="3200" dirty="0"/>
              <a:t> </a:t>
            </a:r>
            <a:r>
              <a:rPr lang="en-ID" sz="3200" dirty="0" err="1"/>
              <a:t>perilaku</a:t>
            </a:r>
            <a:r>
              <a:rPr lang="en-ID" sz="3200" dirty="0"/>
              <a:t> </a:t>
            </a:r>
            <a:r>
              <a:rPr lang="en-ID" sz="3200" dirty="0" err="1"/>
              <a:t>atau</a:t>
            </a:r>
            <a:r>
              <a:rPr lang="en-ID" sz="3200" dirty="0"/>
              <a:t> </a:t>
            </a:r>
            <a:r>
              <a:rPr lang="en-ID" sz="3200" dirty="0" err="1"/>
              <a:t>aksi</a:t>
            </a:r>
            <a:r>
              <a:rPr lang="en-ID" sz="32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D" sz="3200" dirty="0">
                <a:latin typeface="Poppins" panose="00000500000000000000" pitchFamily="2" charset="0"/>
                <a:cs typeface="Poppins" panose="00000500000000000000" pitchFamily="2" charset="0"/>
              </a:rPr>
              <a:t>Constructor : </a:t>
            </a:r>
            <a:r>
              <a:rPr lang="en-ID" sz="3200" dirty="0" err="1"/>
              <a:t>Fungsi</a:t>
            </a:r>
            <a:r>
              <a:rPr lang="en-ID" sz="3200" dirty="0"/>
              <a:t> </a:t>
            </a:r>
            <a:r>
              <a:rPr lang="en-ID" sz="3200" dirty="0" err="1"/>
              <a:t>khusus</a:t>
            </a:r>
            <a:r>
              <a:rPr lang="en-ID" sz="3200" dirty="0"/>
              <a:t> yang </a:t>
            </a:r>
            <a:r>
              <a:rPr lang="en-ID" sz="3200" dirty="0" err="1"/>
              <a:t>dipanggil</a:t>
            </a:r>
            <a:r>
              <a:rPr lang="en-ID" sz="3200" dirty="0"/>
              <a:t> </a:t>
            </a:r>
            <a:r>
              <a:rPr lang="en-ID" sz="3200" dirty="0" err="1"/>
              <a:t>saat</a:t>
            </a:r>
            <a:r>
              <a:rPr lang="en-ID" sz="3200" dirty="0"/>
              <a:t> </a:t>
            </a:r>
            <a:r>
              <a:rPr lang="en-ID" sz="3200" dirty="0" err="1"/>
              <a:t>membuat</a:t>
            </a:r>
            <a:r>
              <a:rPr lang="en-ID" sz="3200" dirty="0"/>
              <a:t> </a:t>
            </a:r>
            <a:r>
              <a:rPr lang="en-ID" sz="3200" dirty="0" err="1"/>
              <a:t>objek</a:t>
            </a:r>
            <a:r>
              <a:rPr lang="en-ID" sz="3200" dirty="0"/>
              <a:t> </a:t>
            </a:r>
            <a:r>
              <a:rPr lang="en-ID" sz="3200" dirty="0" err="1"/>
              <a:t>baru</a:t>
            </a:r>
            <a:r>
              <a:rPr lang="en-ID" sz="3200" dirty="0"/>
              <a:t>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menginisialisasi</a:t>
            </a:r>
            <a:r>
              <a:rPr lang="en-ID" sz="3200" dirty="0"/>
              <a:t> </a:t>
            </a:r>
            <a:r>
              <a:rPr lang="en-ID" sz="3200" dirty="0" err="1"/>
              <a:t>atribut</a:t>
            </a:r>
            <a:r>
              <a:rPr lang="en-ID" sz="3200" dirty="0"/>
              <a:t>.</a:t>
            </a:r>
            <a:endParaRPr lang="en-ID" sz="2903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263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Object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3379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pemrograman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berorientasi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unit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kode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dan data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mandiri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dibuat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templat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disebut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kelas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terdiri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properti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variabel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) dan method (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fungsi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).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turunan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kelas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0130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Object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252523" y="2781481"/>
            <a:ext cx="8899345" cy="15735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903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ClassName objectName = ClassName();</a:t>
            </a:r>
            <a:endParaRPr lang="en-US" sz="2903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59076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Class 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252522" y="1396371"/>
            <a:ext cx="9740517" cy="52536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</a:t>
            </a:r>
            <a:r>
              <a:rPr lang="en-ID" sz="2177" dirty="0">
                <a:solidFill>
                  <a:srgbClr val="F92672"/>
                </a:solidFill>
                <a:latin typeface="Consolas" panose="020B0609020204030204" pitchFamily="49" charset="0"/>
              </a:rPr>
              <a:t>class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i="1" dirty="0" err="1">
                <a:solidFill>
                  <a:srgbClr val="66D9EF"/>
                </a:solidFill>
                <a:latin typeface="Consolas" panose="020B0609020204030204" pitchFamily="49" charset="0"/>
              </a:rPr>
              <a:t>Sepeda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</a:t>
            </a:r>
            <a:r>
              <a:rPr lang="en-ID" sz="2177" i="1" dirty="0">
                <a:solidFill>
                  <a:srgbClr val="66D9EF"/>
                </a:solidFill>
                <a:latin typeface="Consolas" panose="020B0609020204030204" pitchFamily="49" charset="0"/>
              </a:rPr>
              <a:t>String</a:t>
            </a:r>
            <a:r>
              <a:rPr lang="en-ID" sz="2177" dirty="0">
                <a:solidFill>
                  <a:srgbClr val="F92672"/>
                </a:solidFill>
                <a:latin typeface="Consolas" panose="020B0609020204030204" pitchFamily="49" charset="0"/>
              </a:rPr>
              <a:t>?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warna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</a:t>
            </a:r>
            <a:r>
              <a:rPr lang="en-ID" sz="2177" i="1" dirty="0">
                <a:solidFill>
                  <a:srgbClr val="66D9EF"/>
                </a:solidFill>
                <a:latin typeface="Consolas" panose="020B0609020204030204" pitchFamily="49" charset="0"/>
              </a:rPr>
              <a:t>int</a:t>
            </a:r>
            <a:r>
              <a:rPr lang="en-ID" sz="2177" dirty="0">
                <a:solidFill>
                  <a:srgbClr val="F92672"/>
                </a:solidFill>
                <a:latin typeface="Consolas" panose="020B0609020204030204" pitchFamily="49" charset="0"/>
              </a:rPr>
              <a:t>?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ukuran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</a:t>
            </a:r>
            <a:r>
              <a:rPr lang="en-ID" sz="2177" i="1" dirty="0">
                <a:solidFill>
                  <a:srgbClr val="66D9EF"/>
                </a:solidFill>
                <a:latin typeface="Consolas" panose="020B0609020204030204" pitchFamily="49" charset="0"/>
              </a:rPr>
              <a:t>int</a:t>
            </a:r>
            <a:r>
              <a:rPr lang="en-ID" sz="2177" dirty="0">
                <a:solidFill>
                  <a:srgbClr val="F92672"/>
                </a:solidFill>
                <a:latin typeface="Consolas" panose="020B0609020204030204" pitchFamily="49" charset="0"/>
              </a:rPr>
              <a:t>?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kecepatan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</a:t>
            </a:r>
            <a:r>
              <a:rPr lang="en-ID" sz="2177" i="1" dirty="0">
                <a:solidFill>
                  <a:srgbClr val="66D9EF"/>
                </a:solidFill>
                <a:latin typeface="Consolas" panose="020B0609020204030204" pitchFamily="49" charset="0"/>
              </a:rPr>
              <a:t>void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 err="1">
                <a:solidFill>
                  <a:srgbClr val="A6E22E"/>
                </a:solidFill>
                <a:latin typeface="Consolas" panose="020B0609020204030204" pitchFamily="49" charset="0"/>
              </a:rPr>
              <a:t>changeGear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ID" sz="2177" i="1" dirty="0">
                <a:solidFill>
                  <a:srgbClr val="66D9EF"/>
                </a:solidFill>
                <a:latin typeface="Consolas" panose="020B0609020204030204" pitchFamily="49" charset="0"/>
              </a:rPr>
              <a:t>int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newValue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kecepatan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newValue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}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</a:t>
            </a:r>
            <a:r>
              <a:rPr lang="en-ID" sz="2177" i="1" dirty="0">
                <a:solidFill>
                  <a:srgbClr val="66D9EF"/>
                </a:solidFill>
                <a:latin typeface="Consolas" panose="020B0609020204030204" pitchFamily="49" charset="0"/>
              </a:rPr>
              <a:t>void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>
                <a:solidFill>
                  <a:srgbClr val="A6E22E"/>
                </a:solidFill>
                <a:latin typeface="Consolas" panose="020B0609020204030204" pitchFamily="49" charset="0"/>
              </a:rPr>
              <a:t>display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dirty="0">
                <a:solidFill>
                  <a:srgbClr val="A6E22E"/>
                </a:solidFill>
                <a:latin typeface="Consolas" panose="020B0609020204030204" pitchFamily="49" charset="0"/>
              </a:rPr>
              <a:t>print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ID" sz="2177" dirty="0">
                <a:solidFill>
                  <a:srgbClr val="E6DB74"/>
                </a:solidFill>
                <a:latin typeface="Consolas" panose="020B0609020204030204" pitchFamily="49" charset="0"/>
              </a:rPr>
              <a:t>"</a:t>
            </a:r>
            <a:r>
              <a:rPr lang="en-ID" sz="2177" dirty="0" err="1">
                <a:solidFill>
                  <a:srgbClr val="E6DB74"/>
                </a:solidFill>
                <a:latin typeface="Consolas" panose="020B0609020204030204" pitchFamily="49" charset="0"/>
              </a:rPr>
              <a:t>Color</a:t>
            </a:r>
            <a:r>
              <a:rPr lang="en-ID" sz="2177" dirty="0">
                <a:solidFill>
                  <a:srgbClr val="E6DB74"/>
                </a:solidFill>
                <a:latin typeface="Consolas" panose="020B0609020204030204" pitchFamily="49" charset="0"/>
              </a:rPr>
              <a:t>: $</a:t>
            </a:r>
            <a:r>
              <a:rPr lang="en-ID" sz="2177" i="1" dirty="0" err="1">
                <a:solidFill>
                  <a:srgbClr val="FD971F"/>
                </a:solidFill>
                <a:latin typeface="Consolas" panose="020B0609020204030204" pitchFamily="49" charset="0"/>
              </a:rPr>
              <a:t>warna</a:t>
            </a:r>
            <a:r>
              <a:rPr lang="en-ID" sz="2177" dirty="0">
                <a:solidFill>
                  <a:srgbClr val="E6DB74"/>
                </a:solidFill>
                <a:latin typeface="Consolas" panose="020B0609020204030204" pitchFamily="49" charset="0"/>
              </a:rPr>
              <a:t>"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dirty="0">
                <a:solidFill>
                  <a:srgbClr val="A6E22E"/>
                </a:solidFill>
                <a:latin typeface="Consolas" panose="020B0609020204030204" pitchFamily="49" charset="0"/>
              </a:rPr>
              <a:t>print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ID" sz="2177" dirty="0">
                <a:solidFill>
                  <a:srgbClr val="E6DB74"/>
                </a:solidFill>
                <a:latin typeface="Consolas" panose="020B0609020204030204" pitchFamily="49" charset="0"/>
              </a:rPr>
              <a:t>"Size: $</a:t>
            </a:r>
            <a:r>
              <a:rPr lang="en-ID" sz="2177" i="1" dirty="0" err="1">
                <a:solidFill>
                  <a:srgbClr val="FD971F"/>
                </a:solidFill>
                <a:latin typeface="Consolas" panose="020B0609020204030204" pitchFamily="49" charset="0"/>
              </a:rPr>
              <a:t>ukuran</a:t>
            </a:r>
            <a:r>
              <a:rPr lang="en-ID" sz="2177" dirty="0">
                <a:solidFill>
                  <a:srgbClr val="E6DB74"/>
                </a:solidFill>
                <a:latin typeface="Consolas" panose="020B0609020204030204" pitchFamily="49" charset="0"/>
              </a:rPr>
              <a:t>"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dirty="0">
                <a:solidFill>
                  <a:srgbClr val="A6E22E"/>
                </a:solidFill>
                <a:latin typeface="Consolas" panose="020B0609020204030204" pitchFamily="49" charset="0"/>
              </a:rPr>
              <a:t>print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ID" sz="2177" dirty="0">
                <a:solidFill>
                  <a:srgbClr val="E6DB74"/>
                </a:solidFill>
                <a:latin typeface="Consolas" panose="020B0609020204030204" pitchFamily="49" charset="0"/>
              </a:rPr>
              <a:t>"Current Speed: $</a:t>
            </a:r>
            <a:r>
              <a:rPr lang="en-ID" sz="2177" i="1" dirty="0" err="1">
                <a:solidFill>
                  <a:srgbClr val="FD971F"/>
                </a:solidFill>
                <a:latin typeface="Consolas" panose="020B0609020204030204" pitchFamily="49" charset="0"/>
              </a:rPr>
              <a:t>kecepatan</a:t>
            </a:r>
            <a:r>
              <a:rPr lang="en-ID" sz="2177" dirty="0">
                <a:solidFill>
                  <a:srgbClr val="E6DB74"/>
                </a:solidFill>
                <a:latin typeface="Consolas" panose="020B0609020204030204" pitchFamily="49" charset="0"/>
              </a:rPr>
              <a:t>"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}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226515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Class 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252522" y="1396371"/>
            <a:ext cx="9740517" cy="52536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</a:t>
            </a:r>
            <a:r>
              <a:rPr lang="en-ID" sz="2177" i="1" dirty="0">
                <a:solidFill>
                  <a:srgbClr val="66D9EF"/>
                </a:solidFill>
                <a:latin typeface="Consolas" panose="020B0609020204030204" pitchFamily="49" charset="0"/>
              </a:rPr>
              <a:t>void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>
                <a:solidFill>
                  <a:srgbClr val="A6E22E"/>
                </a:solidFill>
                <a:latin typeface="Consolas" panose="020B0609020204030204" pitchFamily="49" charset="0"/>
              </a:rPr>
              <a:t>main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dirty="0">
                <a:solidFill>
                  <a:srgbClr val="88846F"/>
                </a:solidFill>
                <a:latin typeface="Consolas" panose="020B0609020204030204" pitchFamily="49" charset="0"/>
              </a:rPr>
              <a:t>// Here bicycle is object of class Bicycle. </a:t>
            </a:r>
            <a:endParaRPr lang="en-ID" sz="2177" dirty="0">
              <a:solidFill>
                <a:srgbClr val="F8F8F2"/>
              </a:solidFill>
              <a:latin typeface="Consolas" panose="020B0609020204030204" pitchFamily="49" charset="0"/>
            </a:endParaRP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i="1" dirty="0" err="1">
                <a:solidFill>
                  <a:srgbClr val="66D9EF"/>
                </a:solidFill>
                <a:latin typeface="Consolas" panose="020B0609020204030204" pitchFamily="49" charset="0"/>
              </a:rPr>
              <a:t>Sepeda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bicycle </a:t>
            </a:r>
            <a:r>
              <a:rPr lang="en-ID" sz="2177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i="1" dirty="0" err="1">
                <a:solidFill>
                  <a:srgbClr val="66D9EF"/>
                </a:solidFill>
                <a:latin typeface="Consolas" panose="020B0609020204030204" pitchFamily="49" charset="0"/>
              </a:rPr>
              <a:t>Sepeda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bicycle.warna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>
                <a:solidFill>
                  <a:srgbClr val="E6DB74"/>
                </a:solidFill>
                <a:latin typeface="Consolas" panose="020B0609020204030204" pitchFamily="49" charset="0"/>
              </a:rPr>
              <a:t>"Red"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bicycle.ukurang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>
                <a:solidFill>
                  <a:srgbClr val="AE81FF"/>
                </a:solidFill>
                <a:latin typeface="Consolas" panose="020B0609020204030204" pitchFamily="49" charset="0"/>
              </a:rPr>
              <a:t>26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bicycle.kecepatan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177" dirty="0">
                <a:solidFill>
                  <a:srgbClr val="AE81FF"/>
                </a:solidFill>
                <a:latin typeface="Consolas" panose="020B0609020204030204" pitchFamily="49" charset="0"/>
              </a:rPr>
              <a:t>0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bicycle.</a:t>
            </a:r>
            <a:r>
              <a:rPr lang="en-ID" sz="2177" dirty="0" err="1">
                <a:solidFill>
                  <a:srgbClr val="A6E22E"/>
                </a:solidFill>
                <a:latin typeface="Consolas" panose="020B0609020204030204" pitchFamily="49" charset="0"/>
              </a:rPr>
              <a:t>changeGear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ID" sz="2177" dirty="0">
                <a:solidFill>
                  <a:srgbClr val="AE81FF"/>
                </a:solidFill>
                <a:latin typeface="Consolas" panose="020B0609020204030204" pitchFamily="49" charset="0"/>
              </a:rPr>
              <a:t>5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    </a:t>
            </a:r>
            <a:r>
              <a:rPr lang="en-ID" sz="2177" dirty="0" err="1">
                <a:solidFill>
                  <a:srgbClr val="F8F8F2"/>
                </a:solidFill>
                <a:latin typeface="Consolas" panose="020B0609020204030204" pitchFamily="49" charset="0"/>
              </a:rPr>
              <a:t>bicycle.</a:t>
            </a:r>
            <a:r>
              <a:rPr lang="en-ID" sz="2177" dirty="0" err="1">
                <a:solidFill>
                  <a:srgbClr val="A6E22E"/>
                </a:solidFill>
                <a:latin typeface="Consolas" panose="020B0609020204030204" pitchFamily="49" charset="0"/>
              </a:rPr>
              <a:t>display</a:t>
            </a:r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D" sz="2177" dirty="0">
                <a:solidFill>
                  <a:srgbClr val="F8F8F2"/>
                </a:solidFill>
                <a:latin typeface="Consolas" panose="020B0609020204030204" pitchFamily="49" charset="0"/>
              </a:rPr>
              <a:t>    }</a:t>
            </a:r>
          </a:p>
          <a:p>
            <a:endParaRPr lang="en-US" sz="2177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061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Constructor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3379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Construktor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method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khusus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digunakan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menginisialisasi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. Constructor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dipanggil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otomatis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saat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dibuat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, dan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digunakan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mengatur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nilai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awal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properti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45580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Constructor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252523" y="3729558"/>
            <a:ext cx="8899345" cy="15735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903" i="1" dirty="0">
                <a:solidFill>
                  <a:srgbClr val="66D9EF"/>
                </a:solidFill>
                <a:latin typeface="Consolas" panose="020B0609020204030204" pitchFamily="49" charset="0"/>
              </a:rPr>
              <a:t>Person</a:t>
            </a:r>
            <a:r>
              <a:rPr lang="en-ID" sz="2903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903" dirty="0" err="1">
                <a:solidFill>
                  <a:srgbClr val="F8F8F2"/>
                </a:solidFill>
                <a:latin typeface="Consolas" panose="020B0609020204030204" pitchFamily="49" charset="0"/>
              </a:rPr>
              <a:t>person</a:t>
            </a:r>
            <a:r>
              <a:rPr lang="en-ID" sz="2903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903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ID" sz="2903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ID" sz="2903" i="1" dirty="0">
                <a:solidFill>
                  <a:srgbClr val="66D9EF"/>
                </a:solidFill>
                <a:latin typeface="Consolas" panose="020B0609020204030204" pitchFamily="49" charset="0"/>
              </a:rPr>
              <a:t>Person</a:t>
            </a:r>
            <a:r>
              <a:rPr lang="en-ID" sz="2903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ID" sz="2903" dirty="0">
                <a:solidFill>
                  <a:srgbClr val="E6DB74"/>
                </a:solidFill>
                <a:latin typeface="Consolas" panose="020B0609020204030204" pitchFamily="49" charset="0"/>
              </a:rPr>
              <a:t>"John"</a:t>
            </a:r>
            <a:r>
              <a:rPr lang="en-ID" sz="2903" dirty="0">
                <a:solidFill>
                  <a:srgbClr val="F8F8F2"/>
                </a:solidFill>
                <a:latin typeface="Consolas" panose="020B0609020204030204" pitchFamily="49" charset="0"/>
              </a:rPr>
              <a:t>, </a:t>
            </a:r>
            <a:r>
              <a:rPr lang="en-ID" sz="2903" dirty="0">
                <a:solidFill>
                  <a:srgbClr val="AE81FF"/>
                </a:solidFill>
                <a:latin typeface="Consolas" panose="020B0609020204030204" pitchFamily="49" charset="0"/>
              </a:rPr>
              <a:t>30</a:t>
            </a:r>
            <a:r>
              <a:rPr lang="en-ID" sz="2903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203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Misalnya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kode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berikut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membuat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objek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kelas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Person dan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menetapkan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nilai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awal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latin typeface="Poppins" panose="00000500000000000000" pitchFamily="2" charset="0"/>
                <a:cs typeface="Poppins" panose="00000500000000000000" pitchFamily="2" charset="0"/>
              </a:rPr>
              <a:t>properti</a:t>
            </a:r>
            <a:r>
              <a:rPr lang="en-ID" sz="2903" dirty="0">
                <a:latin typeface="Poppins" panose="00000500000000000000" pitchFamily="2" charset="0"/>
                <a:cs typeface="Poppins" panose="00000500000000000000" pitchFamily="2" charset="0"/>
              </a:rPr>
              <a:t> name dan age.</a:t>
            </a:r>
          </a:p>
        </p:txBody>
      </p:sp>
    </p:spTree>
    <p:extLst>
      <p:ext uri="{BB962C8B-B14F-4D97-AF65-F5344CB8AC3E}">
        <p14:creationId xmlns:p14="http://schemas.microsoft.com/office/powerpoint/2010/main" val="1315210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Constructor(1)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252522" y="1396371"/>
            <a:ext cx="9740517" cy="52536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Car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brand;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year;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Car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.brand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.year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showInfo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"Mobil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brand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tahun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Car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myCar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Car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"Toyota"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2022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myCar.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showInfo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2003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Constructor(2)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252522" y="1396371"/>
            <a:ext cx="9740517" cy="52536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Membuat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objek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dengan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constructor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pegawai1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"Budi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Santoso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"Manager"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7000000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2000000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500000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pegawai2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"Siti Aminah"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"Staff"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5000000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1000000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300000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Menampilkan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informasi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pegawai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"=== Data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==="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pegawai1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tampilkanInfo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pegawai2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tampilkanInfo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Kelas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dengan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Constructor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Properti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Pegawai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jabatan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gajiPokok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97787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Constructor(2)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252522" y="1396371"/>
            <a:ext cx="9740517" cy="52536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Constructor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untuk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inisialisasi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nilai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saat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objek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dibuat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jabatan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gajiPokok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Method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untuk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menghitung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gaji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bersih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gajiPokok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Method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untuk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menampilkan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informasi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pegawai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tampilkanInfo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"Nama: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Jabatan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jabatan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Gaji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Pokok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$gajiPokok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$tunjangan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$potongan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Gaji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Bersih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${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()}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"=============================="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4019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Inheritance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4433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3200" b="1" dirty="0"/>
              <a:t>Inheritance (</a:t>
            </a:r>
            <a:r>
              <a:rPr lang="en-ID" sz="3200" b="1" dirty="0" err="1"/>
              <a:t>Pewarisan</a:t>
            </a:r>
            <a:r>
              <a:rPr lang="en-ID" sz="3200" b="1" dirty="0"/>
              <a:t>)</a:t>
            </a:r>
            <a:r>
              <a:rPr lang="en-ID" sz="3200" dirty="0"/>
              <a:t> </a:t>
            </a:r>
            <a:r>
              <a:rPr lang="en-ID" sz="3200" dirty="0" err="1"/>
              <a:t>memungkinkan</a:t>
            </a:r>
            <a:r>
              <a:rPr lang="en-ID" sz="3200" dirty="0"/>
              <a:t> </a:t>
            </a:r>
            <a:r>
              <a:rPr lang="en-ID" sz="3200" dirty="0" err="1"/>
              <a:t>sebuah</a:t>
            </a:r>
            <a:r>
              <a:rPr lang="en-ID" sz="3200" dirty="0"/>
              <a:t> class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mewarisi</a:t>
            </a:r>
            <a:r>
              <a:rPr lang="en-ID" sz="3200" dirty="0"/>
              <a:t> </a:t>
            </a:r>
            <a:r>
              <a:rPr lang="en-ID" sz="3200" dirty="0" err="1"/>
              <a:t>atribut</a:t>
            </a:r>
            <a:r>
              <a:rPr lang="en-ID" sz="3200" dirty="0"/>
              <a:t> dan method </a:t>
            </a:r>
            <a:r>
              <a:rPr lang="en-ID" sz="3200" dirty="0" err="1"/>
              <a:t>dari</a:t>
            </a:r>
            <a:r>
              <a:rPr lang="en-ID" sz="3200" dirty="0"/>
              <a:t> class lain.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- Class yang </a:t>
            </a:r>
            <a:r>
              <a:rPr lang="en-US" sz="3200" dirty="0" err="1"/>
              <a:t>diwarisi</a:t>
            </a:r>
            <a:r>
              <a:rPr lang="en-US" sz="3200" dirty="0"/>
              <a:t> </a:t>
            </a:r>
            <a:r>
              <a:rPr lang="en-US" sz="3200" dirty="0" err="1"/>
              <a:t>disebut</a:t>
            </a:r>
            <a:r>
              <a:rPr lang="en-US" sz="3200" dirty="0"/>
              <a:t> </a:t>
            </a:r>
            <a:r>
              <a:rPr lang="en-US" sz="3200" b="1" dirty="0"/>
              <a:t>Parent Class</a:t>
            </a:r>
            <a:r>
              <a:rPr lang="en-US" sz="3200" dirty="0"/>
              <a:t> atau </a:t>
            </a:r>
            <a:r>
              <a:rPr lang="en-US" sz="3200" b="1" dirty="0"/>
              <a:t>Super Class</a:t>
            </a:r>
            <a:r>
              <a:rPr lang="en-US" sz="3200" dirty="0"/>
              <a:t>.</a:t>
            </a:r>
            <a:endParaRPr lang="en-ID" sz="3200" dirty="0"/>
          </a:p>
          <a:p>
            <a:pPr algn="just">
              <a:lnSpc>
                <a:spcPct val="150000"/>
              </a:lnSpc>
            </a:pPr>
            <a:r>
              <a:rPr lang="en-ID" sz="3200" dirty="0"/>
              <a:t>- </a:t>
            </a:r>
            <a:r>
              <a:rPr lang="en-US" sz="3200" dirty="0"/>
              <a:t>Class yang </a:t>
            </a:r>
            <a:r>
              <a:rPr lang="en-US" sz="3200" dirty="0" err="1"/>
              <a:t>mewarisi</a:t>
            </a:r>
            <a:r>
              <a:rPr lang="en-US" sz="3200" dirty="0"/>
              <a:t> </a:t>
            </a:r>
            <a:r>
              <a:rPr lang="en-US" sz="3200" dirty="0" err="1"/>
              <a:t>disebut</a:t>
            </a:r>
            <a:r>
              <a:rPr lang="en-US" sz="3200" dirty="0"/>
              <a:t> </a:t>
            </a:r>
            <a:r>
              <a:rPr lang="en-US" sz="3200" b="1" dirty="0"/>
              <a:t>Child Class</a:t>
            </a:r>
            <a:r>
              <a:rPr lang="en-US" sz="3200" dirty="0"/>
              <a:t> atau </a:t>
            </a:r>
            <a:r>
              <a:rPr lang="en-US" sz="3200" b="1" dirty="0"/>
              <a:t>Sub Class</a:t>
            </a:r>
            <a:r>
              <a:rPr lang="en-US" sz="3200" dirty="0"/>
              <a:t>.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1543095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Inheritance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Animal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makeSound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Hewan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bersuara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extends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Animal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makeSound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Anjing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menggonggong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dog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dog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makeSound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82322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Inheritance(2)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Membuat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objek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Manager dan Staff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Manager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manager1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Manager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"Budi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Santoso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7000000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2000000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500000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1000000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Staff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staff1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Staff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"Siti Aminah"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5000000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1000000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300000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200000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Menampilkan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informasi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pegawai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"=== Data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==="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manager1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tampilkanInfo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staff1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tampilkanInfo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Kelas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Induk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Pegawai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gajiPokok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72539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Inheritance(2)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Constructor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gajiPokok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Method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untuk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menghitung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gaji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bersih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gajiPokok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Method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untuk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menampilkan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informasi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pegawai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tampilkanInfo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"Nama: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Gaji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Pokok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$gajiPokok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$tunjangan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$potongan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Gaji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Bersih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${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()}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"=============================="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13659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Inheritance(2)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Kelas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Turunan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Manager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Manager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extends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bonus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Constructor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dengan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super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untuk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memanggil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constructor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Pegawai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Manager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gajiPokok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bonus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super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gajiPokok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Override method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dengan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tambahan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bonus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super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bonus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tampilkanInfo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super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tampilkanInfo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"Bonus: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$bonus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"Total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Gaji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Bersih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${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()}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"=============================="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57232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Inheritance(2)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Kelas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Turunan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Staff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Staff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extends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Pegawai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uangMakan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Constructor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dengan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super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untuk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memanggil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constructor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Pegawai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Staff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gajiPokok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uangMakan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super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gajiPokok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tunjangan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potongan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Override method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dengan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tambahan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uang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makan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super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uangMakan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19861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Inheritance(2)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tampilkanInfo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super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tampilkanInfo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Uang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Makan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$uangMakan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"Total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Gaji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Bersih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Rp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${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hitungGajiBersih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()}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"=============================="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27176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Encapsulation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29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dirty="0"/>
              <a:t>Encapsulation (</a:t>
            </a:r>
            <a:r>
              <a:rPr lang="en-ID" sz="3200" b="1" dirty="0" err="1"/>
              <a:t>Enkapsulasi</a:t>
            </a:r>
            <a:r>
              <a:rPr lang="en-ID" sz="3200" b="1" dirty="0"/>
              <a:t>)</a:t>
            </a:r>
            <a:r>
              <a:rPr lang="en-ID" sz="3200" dirty="0"/>
              <a:t> </a:t>
            </a:r>
            <a:r>
              <a:rPr lang="en-ID" sz="3200" dirty="0" err="1"/>
              <a:t>adalah</a:t>
            </a:r>
            <a:r>
              <a:rPr lang="en-ID" sz="3200" dirty="0"/>
              <a:t> proses </a:t>
            </a:r>
            <a:r>
              <a:rPr lang="en-ID" sz="3200" dirty="0" err="1"/>
              <a:t>menyembunyikan</a:t>
            </a:r>
            <a:r>
              <a:rPr lang="en-ID" sz="3200" dirty="0"/>
              <a:t> detail </a:t>
            </a:r>
            <a:r>
              <a:rPr lang="en-ID" sz="3200" dirty="0" err="1"/>
              <a:t>implementasi</a:t>
            </a:r>
            <a:r>
              <a:rPr lang="en-ID" sz="3200" dirty="0"/>
              <a:t> internal </a:t>
            </a:r>
            <a:r>
              <a:rPr lang="en-ID" sz="3200" dirty="0" err="1"/>
              <a:t>dari</a:t>
            </a:r>
            <a:r>
              <a:rPr lang="en-ID" sz="3200" dirty="0"/>
              <a:t> </a:t>
            </a:r>
            <a:r>
              <a:rPr lang="en-ID" sz="3200" dirty="0" err="1"/>
              <a:t>pengguna</a:t>
            </a:r>
            <a:r>
              <a:rPr lang="en-ID" sz="3200" dirty="0"/>
              <a:t> </a:t>
            </a:r>
            <a:r>
              <a:rPr lang="en-ID" sz="3200" dirty="0" err="1"/>
              <a:t>luar</a:t>
            </a:r>
            <a:r>
              <a:rPr lang="en-ID" sz="3200" dirty="0"/>
              <a:t>, dan </a:t>
            </a:r>
            <a:r>
              <a:rPr lang="en-ID" sz="3200" dirty="0" err="1"/>
              <a:t>hanya</a:t>
            </a:r>
            <a:r>
              <a:rPr lang="en-ID" sz="3200" dirty="0"/>
              <a:t> </a:t>
            </a:r>
            <a:r>
              <a:rPr lang="en-ID" sz="3200" dirty="0" err="1"/>
              <a:t>memperlihatkan</a:t>
            </a:r>
            <a:r>
              <a:rPr lang="en-ID" sz="3200" dirty="0"/>
              <a:t> </a:t>
            </a:r>
            <a:r>
              <a:rPr lang="en-ID" sz="3200" dirty="0" err="1"/>
              <a:t>bagian</a:t>
            </a:r>
            <a:r>
              <a:rPr lang="en-ID" sz="3200" dirty="0"/>
              <a:t> yang </a:t>
            </a:r>
            <a:r>
              <a:rPr lang="en-ID" sz="3200" dirty="0" err="1"/>
              <a:t>penting</a:t>
            </a:r>
            <a:r>
              <a:rPr lang="en-ID" sz="3200" dirty="0"/>
              <a:t> </a:t>
            </a:r>
            <a:r>
              <a:rPr lang="en-ID" sz="3200" dirty="0" err="1"/>
              <a:t>melalui</a:t>
            </a:r>
            <a:r>
              <a:rPr lang="en-ID" sz="3200" dirty="0"/>
              <a:t> getter dan setter.</a:t>
            </a:r>
            <a:endParaRPr lang="en-ID" sz="2903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358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Encapsulation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2217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dirty="0"/>
              <a:t>Di Dart, </a:t>
            </a:r>
            <a:r>
              <a:rPr lang="en-ID" sz="3200" dirty="0" err="1"/>
              <a:t>enkapsulasi</a:t>
            </a:r>
            <a:r>
              <a:rPr lang="en-ID" sz="3200" dirty="0"/>
              <a:t> </a:t>
            </a:r>
            <a:r>
              <a:rPr lang="en-ID" sz="3200" dirty="0" err="1"/>
              <a:t>dicapai</a:t>
            </a:r>
            <a:r>
              <a:rPr lang="en-ID" sz="3200" dirty="0"/>
              <a:t> </a:t>
            </a:r>
            <a:r>
              <a:rPr lang="en-ID" sz="3200" dirty="0" err="1"/>
              <a:t>dengan</a:t>
            </a:r>
            <a:r>
              <a:rPr lang="en-ID" sz="3200" dirty="0"/>
              <a:t> </a:t>
            </a:r>
            <a:r>
              <a:rPr lang="en-ID" sz="3200" dirty="0" err="1"/>
              <a:t>menandai</a:t>
            </a:r>
            <a:r>
              <a:rPr lang="en-ID" sz="3200" dirty="0"/>
              <a:t> </a:t>
            </a:r>
            <a:r>
              <a:rPr lang="en-ID" sz="3200" dirty="0" err="1"/>
              <a:t>atribut</a:t>
            </a:r>
            <a:r>
              <a:rPr lang="en-ID" sz="3200" dirty="0"/>
              <a:t> </a:t>
            </a:r>
            <a:r>
              <a:rPr lang="en-ID" sz="3200" dirty="0" err="1"/>
              <a:t>atau</a:t>
            </a:r>
            <a:r>
              <a:rPr lang="en-ID" sz="3200" dirty="0"/>
              <a:t> method </a:t>
            </a:r>
            <a:r>
              <a:rPr lang="en-ID" sz="3200" dirty="0" err="1"/>
              <a:t>dengan</a:t>
            </a:r>
            <a:r>
              <a:rPr lang="en-ID" sz="3200" dirty="0"/>
              <a:t> </a:t>
            </a:r>
            <a:r>
              <a:rPr lang="en-ID" sz="3200" dirty="0" err="1"/>
              <a:t>awalan</a:t>
            </a:r>
            <a:r>
              <a:rPr lang="en-ID" sz="3200" dirty="0"/>
              <a:t> underscore (_), yang </a:t>
            </a:r>
            <a:r>
              <a:rPr lang="en-ID" sz="3200" dirty="0" err="1"/>
              <a:t>membuatnya</a:t>
            </a:r>
            <a:r>
              <a:rPr lang="en-ID" sz="3200" dirty="0"/>
              <a:t> </a:t>
            </a:r>
            <a:r>
              <a:rPr lang="en-ID" sz="3200" b="1" dirty="0"/>
              <a:t>private</a:t>
            </a:r>
            <a:r>
              <a:rPr lang="en-ID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5124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Encapsulation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accountNumber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_balance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 err="1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accountNumber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_balance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deposit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_balance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b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getBalance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_balance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 err="1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myAccount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"12345"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1000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myAccount</a:t>
            </a:r>
            <a:r>
              <a:rPr lang="en-US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deposit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CE9178"/>
                </a:solidFill>
                <a:latin typeface="Consolas" panose="020B0609020204030204" pitchFamily="49" charset="0"/>
              </a:rPr>
              <a:t>Saldo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D7BA7D"/>
                </a:solidFill>
                <a:latin typeface="Consolas" panose="020B0609020204030204" pitchFamily="49" charset="0"/>
              </a:rPr>
              <a:t>\$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{</a:t>
            </a:r>
            <a:r>
              <a:rPr lang="en-US" sz="1400" dirty="0" err="1">
                <a:solidFill>
                  <a:srgbClr val="CE9178"/>
                </a:solidFill>
                <a:latin typeface="Consolas" panose="020B0609020204030204" pitchFamily="49" charset="0"/>
              </a:rPr>
              <a:t>myAccount.getBalance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()}"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42148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Polymorphisme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4433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dirty="0"/>
              <a:t>Polymorphism (</a:t>
            </a:r>
            <a:r>
              <a:rPr lang="en-ID" sz="3200" b="1" dirty="0" err="1"/>
              <a:t>Polimorfisme</a:t>
            </a:r>
            <a:r>
              <a:rPr lang="en-ID" sz="3200" b="1" dirty="0"/>
              <a:t>)</a:t>
            </a:r>
            <a:r>
              <a:rPr lang="en-ID" sz="3200" dirty="0"/>
              <a:t> </a:t>
            </a:r>
            <a:r>
              <a:rPr lang="en-ID" sz="3200" dirty="0" err="1"/>
              <a:t>memungkinkan</a:t>
            </a:r>
            <a:r>
              <a:rPr lang="en-ID" sz="3200" dirty="0"/>
              <a:t> </a:t>
            </a:r>
            <a:r>
              <a:rPr lang="en-ID" sz="3200" dirty="0" err="1"/>
              <a:t>objek</a:t>
            </a:r>
            <a:r>
              <a:rPr lang="en-ID" sz="3200" dirty="0"/>
              <a:t>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memiliki</a:t>
            </a:r>
            <a:r>
              <a:rPr lang="en-ID" sz="3200" dirty="0"/>
              <a:t> </a:t>
            </a:r>
            <a:r>
              <a:rPr lang="en-ID" sz="3200" dirty="0" err="1"/>
              <a:t>banyak</a:t>
            </a:r>
            <a:r>
              <a:rPr lang="en-ID" sz="3200" dirty="0"/>
              <a:t> </a:t>
            </a:r>
            <a:r>
              <a:rPr lang="en-ID" sz="3200" dirty="0" err="1"/>
              <a:t>bentuk</a:t>
            </a:r>
            <a:r>
              <a:rPr lang="en-ID" sz="3200" dirty="0"/>
              <a:t>, </a:t>
            </a:r>
            <a:r>
              <a:rPr lang="en-ID" sz="3200" dirty="0" err="1"/>
              <a:t>yaitu</a:t>
            </a:r>
            <a:r>
              <a:rPr lang="en-ID" sz="3200" dirty="0"/>
              <a:t> </a:t>
            </a:r>
            <a:r>
              <a:rPr lang="en-ID" sz="3200" dirty="0" err="1"/>
              <a:t>kemampuan</a:t>
            </a:r>
            <a:r>
              <a:rPr lang="en-ID" sz="3200" dirty="0"/>
              <a:t>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menggunakan</a:t>
            </a:r>
            <a:r>
              <a:rPr lang="en-ID" sz="3200" dirty="0"/>
              <a:t> method </a:t>
            </a:r>
            <a:r>
              <a:rPr lang="en-ID" sz="3200" dirty="0" err="1"/>
              <a:t>dengan</a:t>
            </a:r>
            <a:r>
              <a:rPr lang="en-ID" sz="3200" dirty="0"/>
              <a:t> </a:t>
            </a:r>
            <a:r>
              <a:rPr lang="en-ID" sz="3200" dirty="0" err="1"/>
              <a:t>nama</a:t>
            </a:r>
            <a:r>
              <a:rPr lang="en-ID" sz="3200" dirty="0"/>
              <a:t> yang </a:t>
            </a:r>
            <a:r>
              <a:rPr lang="en-ID" sz="3200" dirty="0" err="1"/>
              <a:t>sama</a:t>
            </a:r>
            <a:r>
              <a:rPr lang="en-ID" sz="3200" dirty="0"/>
              <a:t> </a:t>
            </a:r>
            <a:r>
              <a:rPr lang="en-ID" sz="3200" dirty="0" err="1"/>
              <a:t>tetapi</a:t>
            </a:r>
            <a:r>
              <a:rPr lang="en-ID" sz="3200" dirty="0"/>
              <a:t> </a:t>
            </a:r>
            <a:r>
              <a:rPr lang="en-ID" sz="3200" dirty="0" err="1"/>
              <a:t>perilaku</a:t>
            </a:r>
            <a:r>
              <a:rPr lang="en-ID" sz="3200" dirty="0"/>
              <a:t> </a:t>
            </a:r>
            <a:r>
              <a:rPr lang="en-ID" sz="3200" dirty="0" err="1"/>
              <a:t>berbeda</a:t>
            </a:r>
            <a:r>
              <a:rPr lang="en-ID" sz="3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en-ID" sz="3200" dirty="0" err="1"/>
              <a:t>Biasanya</a:t>
            </a:r>
            <a:r>
              <a:rPr lang="en-ID" sz="3200" dirty="0"/>
              <a:t> </a:t>
            </a:r>
            <a:r>
              <a:rPr lang="en-ID" sz="3200" dirty="0" err="1"/>
              <a:t>dilakukan</a:t>
            </a:r>
            <a:r>
              <a:rPr lang="en-ID" sz="3200" dirty="0"/>
              <a:t> </a:t>
            </a:r>
            <a:r>
              <a:rPr lang="en-ID" sz="3200" dirty="0" err="1"/>
              <a:t>dengan</a:t>
            </a:r>
            <a:r>
              <a:rPr lang="en-ID" sz="3200" dirty="0"/>
              <a:t> </a:t>
            </a:r>
            <a:r>
              <a:rPr lang="en-ID" sz="3200" b="1" dirty="0"/>
              <a:t>method overriding</a:t>
            </a:r>
            <a:r>
              <a:rPr lang="en-ID" sz="3200" dirty="0"/>
              <a:t> pada subclass.</a:t>
            </a:r>
          </a:p>
        </p:txBody>
      </p:sp>
    </p:spTree>
    <p:extLst>
      <p:ext uri="{BB962C8B-B14F-4D97-AF65-F5344CB8AC3E}">
        <p14:creationId xmlns:p14="http://schemas.microsoft.com/office/powerpoint/2010/main" val="3097798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Polymorphisme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Shape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draw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Menggambar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bentuk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Circle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extends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Shape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draw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Menggambar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lingkaran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Shape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shape1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Circle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shape1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draw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69923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Abstraction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2217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dirty="0"/>
              <a:t>Abstraction (</a:t>
            </a:r>
            <a:r>
              <a:rPr lang="en-ID" sz="3200" b="1" dirty="0" err="1"/>
              <a:t>Abstraksi</a:t>
            </a:r>
            <a:r>
              <a:rPr lang="en-ID" sz="3200" b="1" dirty="0"/>
              <a:t>)</a:t>
            </a:r>
            <a:r>
              <a:rPr lang="en-ID" sz="3200" dirty="0"/>
              <a:t> </a:t>
            </a:r>
            <a:r>
              <a:rPr lang="en-ID" sz="3200" dirty="0" err="1"/>
              <a:t>adalah</a:t>
            </a:r>
            <a:r>
              <a:rPr lang="en-ID" sz="3200" dirty="0"/>
              <a:t> </a:t>
            </a:r>
            <a:r>
              <a:rPr lang="en-ID" sz="3200" dirty="0" err="1"/>
              <a:t>menyembunyikan</a:t>
            </a:r>
            <a:r>
              <a:rPr lang="en-ID" sz="3200" dirty="0"/>
              <a:t> detail </a:t>
            </a:r>
            <a:r>
              <a:rPr lang="en-ID" sz="3200" dirty="0" err="1"/>
              <a:t>implementasi</a:t>
            </a:r>
            <a:r>
              <a:rPr lang="en-ID" sz="3200" dirty="0"/>
              <a:t> dan </a:t>
            </a:r>
            <a:r>
              <a:rPr lang="en-ID" sz="3200" dirty="0" err="1"/>
              <a:t>hanya</a:t>
            </a:r>
            <a:r>
              <a:rPr lang="en-ID" sz="3200" dirty="0"/>
              <a:t> </a:t>
            </a:r>
            <a:r>
              <a:rPr lang="en-ID" sz="3200" dirty="0" err="1"/>
              <a:t>menyediakan</a:t>
            </a:r>
            <a:r>
              <a:rPr lang="en-ID" sz="3200" dirty="0"/>
              <a:t> interface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berinteraksi</a:t>
            </a:r>
            <a:r>
              <a:rPr lang="en-ID" sz="3200" dirty="0"/>
              <a:t> </a:t>
            </a:r>
            <a:r>
              <a:rPr lang="en-ID" sz="3200" dirty="0" err="1"/>
              <a:t>dengan</a:t>
            </a:r>
            <a:r>
              <a:rPr lang="en-ID" sz="3200" dirty="0"/>
              <a:t> </a:t>
            </a:r>
            <a:r>
              <a:rPr lang="en-ID" sz="3200" dirty="0" err="1"/>
              <a:t>objek</a:t>
            </a:r>
            <a:r>
              <a:rPr lang="en-ID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0451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Abstraction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abstract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Vehicle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start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Motorcycle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extends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Vehicle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start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"Motor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dinyalakan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Motorcycle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myMotorcycle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Motorcycle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myMotorcycle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start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928088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Abstraction 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Membuat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objek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Mobil dan Motor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avanza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Mobil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"Toyota Avanza"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supra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Motor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"Honda Supra"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Menampilkan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informasi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kendaraan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dan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menghidupkan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mesin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avanza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supra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Kelas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Abstrak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Kendaraan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abstract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Kendaraan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Kendaraan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hidupkanMesin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matikanMesin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44976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Abstraction 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info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"Nama: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hidupkanMesin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matikanMesin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Kelas Mobil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Mobil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extends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Kendaraan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Mobil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super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hidupkanMesin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=&gt;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Mesin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mobil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dinyalakan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... Vroom Vroom!"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matikanMesin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=&gt;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Mesin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mobil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dimatikan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..."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21579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Abstraction (2)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// Kelas Motor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Motor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extends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Kendaraan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Motor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super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hidupkanMesin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=&gt;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Mesin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motor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dinyalakan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... Brum Brum!"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@override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matikanMesin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=&gt;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Mesin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 motor 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dimatikan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..."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07646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F3A7-4BA0-448E-B0DE-865BDBAB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35" y="2856659"/>
            <a:ext cx="9795931" cy="1144682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+mn-lt"/>
              </a:rPr>
              <a:t>Studi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+mn-lt"/>
              </a:rPr>
              <a:t>Kasus</a:t>
            </a:r>
            <a:endParaRPr lang="en-ID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1240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Studi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kasus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1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//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book.dart</a:t>
            </a:r>
            <a:endParaRPr lang="en-US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Book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author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Book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author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display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Judul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Penulis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author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27819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Studi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kasus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2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//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member.dart</a:t>
            </a:r>
            <a:endParaRPr lang="en-US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Member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memberId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Member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memberId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showMemberInfo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Anggota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, ID: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memberId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728863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Studi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kasus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3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7" y="2007256"/>
            <a:ext cx="10009926" cy="4615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library.dart</a:t>
            </a:r>
            <a:endParaRPr lang="en-US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book.dart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member.dart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Library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List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&gt;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books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[];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List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Member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&gt;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members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[];</a:t>
            </a:r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addBook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books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addMember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Member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member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members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member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displayBooks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books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display</a:t>
            </a: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83112" y="1476758"/>
            <a:ext cx="10223921" cy="53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ontoh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903" dirty="0" err="1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sintak</a:t>
            </a:r>
            <a:r>
              <a:rPr lang="en-ID" sz="2903" dirty="0">
                <a:solidFill>
                  <a:srgbClr val="4A4A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936247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Studi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kasus</a:t>
            </a:r>
            <a:r>
              <a:rPr lang="en-US" sz="3992" b="1" spc="-1" dirty="0">
                <a:solidFill>
                  <a:srgbClr val="FFFFFF"/>
                </a:solidFill>
                <a:latin typeface="Arial"/>
                <a:ea typeface="DejaVu Sans"/>
              </a:rPr>
              <a:t> 4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7CC83-713D-44BF-8632-88B85F2F6F1A}"/>
              </a:ext>
            </a:extLst>
          </p:cNvPr>
          <p:cNvSpPr/>
          <p:nvPr/>
        </p:nvSpPr>
        <p:spPr>
          <a:xfrm>
            <a:off x="1197106" y="1402080"/>
            <a:ext cx="10080493" cy="52203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library.dart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book.dart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member.dart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Library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myLibrary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Library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Book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book1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Book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"Dart Programming"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"John Doe"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Book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book2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Book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"Flutter for Beginners"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"Jane Smith"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Member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member1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Member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"Ali"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101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myLibrary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addBook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book1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myLibrary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addBook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book2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myLibrary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addMember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member1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myLibrary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displayBooks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1342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Tugas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4536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/>
              <a:t>Sistem</a:t>
            </a:r>
            <a:r>
              <a:rPr lang="en-US" sz="2800" dirty="0"/>
              <a:t> </a:t>
            </a:r>
            <a:r>
              <a:rPr lang="en-US" sz="2800" dirty="0" err="1"/>
              <a:t>Manajemen</a:t>
            </a:r>
            <a:r>
              <a:rPr lang="en-US" sz="2800" dirty="0"/>
              <a:t> </a:t>
            </a:r>
            <a:r>
              <a:rPr lang="en-US" sz="2800" dirty="0" err="1"/>
              <a:t>Kendaraan</a:t>
            </a:r>
            <a:r>
              <a:rPr lang="en-US" sz="2800" dirty="0"/>
              <a:t> : </a:t>
            </a:r>
          </a:p>
          <a:p>
            <a:pPr algn="just">
              <a:lnSpc>
                <a:spcPct val="150000"/>
              </a:lnSpc>
            </a:pPr>
            <a:r>
              <a:rPr lang="en-US" sz="2800" dirty="0" err="1"/>
              <a:t>Buatlah</a:t>
            </a:r>
            <a:r>
              <a:rPr lang="en-US" sz="2800" dirty="0"/>
              <a:t> </a:t>
            </a:r>
            <a:r>
              <a:rPr lang="en-US" sz="2800" dirty="0" err="1"/>
              <a:t>sebuah</a:t>
            </a:r>
            <a:r>
              <a:rPr lang="en-US" sz="2800" dirty="0"/>
              <a:t> </a:t>
            </a:r>
            <a:r>
              <a:rPr lang="en-US" sz="2800" dirty="0" err="1"/>
              <a:t>sistem</a:t>
            </a:r>
            <a:r>
              <a:rPr lang="en-US" sz="2800" dirty="0"/>
              <a:t> </a:t>
            </a:r>
            <a:r>
              <a:rPr lang="en-US" sz="2800" dirty="0" err="1"/>
              <a:t>manajemen</a:t>
            </a:r>
            <a:r>
              <a:rPr lang="en-US" sz="2800" dirty="0"/>
              <a:t> </a:t>
            </a:r>
            <a:r>
              <a:rPr lang="en-US" sz="2800" dirty="0" err="1"/>
              <a:t>kendaraan</a:t>
            </a:r>
            <a:r>
              <a:rPr lang="en-US" sz="2800" dirty="0"/>
              <a:t> yang </a:t>
            </a:r>
            <a:r>
              <a:rPr lang="en-US" sz="2800" dirty="0" err="1"/>
              <a:t>memungkinkan</a:t>
            </a:r>
            <a:r>
              <a:rPr lang="en-US" sz="2800" dirty="0"/>
              <a:t> </a:t>
            </a:r>
            <a:r>
              <a:rPr lang="en-US" sz="2800" dirty="0" err="1"/>
              <a:t>pengguna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menambahkan</a:t>
            </a:r>
            <a:r>
              <a:rPr lang="en-US" sz="2800" dirty="0"/>
              <a:t> </a:t>
            </a:r>
            <a:r>
              <a:rPr lang="en-US" sz="2800" dirty="0" err="1"/>
              <a:t>kendaraan</a:t>
            </a:r>
            <a:r>
              <a:rPr lang="en-US" sz="2800" dirty="0"/>
              <a:t>, </a:t>
            </a:r>
            <a:r>
              <a:rPr lang="en-US" sz="2800" dirty="0" err="1"/>
              <a:t>menampilkan</a:t>
            </a:r>
            <a:r>
              <a:rPr lang="en-US" sz="2800" dirty="0"/>
              <a:t> </a:t>
            </a:r>
            <a:r>
              <a:rPr lang="en-US" sz="2800" dirty="0" err="1"/>
              <a:t>informasi</a:t>
            </a:r>
            <a:r>
              <a:rPr lang="en-US" sz="2800" dirty="0"/>
              <a:t> </a:t>
            </a:r>
            <a:r>
              <a:rPr lang="en-US" sz="2800" dirty="0" err="1"/>
              <a:t>kendaraan</a:t>
            </a:r>
            <a:r>
              <a:rPr lang="en-US" sz="2800" dirty="0"/>
              <a:t>, </a:t>
            </a:r>
            <a:r>
              <a:rPr lang="en-US" sz="2800" dirty="0" err="1"/>
              <a:t>serta</a:t>
            </a:r>
            <a:r>
              <a:rPr lang="en-US" sz="2800" dirty="0"/>
              <a:t> </a:t>
            </a:r>
            <a:r>
              <a:rPr lang="en-US" sz="2800" dirty="0" err="1"/>
              <a:t>melakukan</a:t>
            </a:r>
            <a:r>
              <a:rPr lang="en-US" sz="2800" dirty="0"/>
              <a:t> </a:t>
            </a:r>
            <a:r>
              <a:rPr lang="en-US" sz="2800" dirty="0" err="1"/>
              <a:t>servis</a:t>
            </a:r>
            <a:r>
              <a:rPr lang="en-US" sz="2800" dirty="0"/>
              <a:t> </a:t>
            </a:r>
            <a:r>
              <a:rPr lang="en-US" sz="2800" dirty="0" err="1"/>
              <a:t>kendaraan</a:t>
            </a:r>
            <a:r>
              <a:rPr lang="en-US" sz="2800" dirty="0"/>
              <a:t>. </a:t>
            </a:r>
            <a:r>
              <a:rPr lang="en-US" sz="2800" dirty="0" err="1"/>
              <a:t>Sistem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harus</a:t>
            </a:r>
            <a:r>
              <a:rPr lang="en-US" sz="2800" dirty="0"/>
              <a:t> </a:t>
            </a:r>
            <a:r>
              <a:rPr lang="en-US" sz="2800" dirty="0" err="1"/>
              <a:t>menerapkan</a:t>
            </a:r>
            <a:r>
              <a:rPr lang="en-US" sz="2800" dirty="0"/>
              <a:t> </a:t>
            </a:r>
            <a:r>
              <a:rPr lang="en-US" sz="2800" dirty="0" err="1"/>
              <a:t>prinsip-prinsip</a:t>
            </a:r>
            <a:r>
              <a:rPr lang="en-US" sz="2800" dirty="0"/>
              <a:t> </a:t>
            </a:r>
            <a:r>
              <a:rPr lang="en-US" sz="2800" b="1" dirty="0"/>
              <a:t>OOP</a:t>
            </a:r>
            <a:r>
              <a:rPr lang="en-US" sz="2800" dirty="0"/>
              <a:t> </a:t>
            </a:r>
            <a:r>
              <a:rPr lang="en-US" sz="2800" dirty="0" err="1"/>
              <a:t>seperti</a:t>
            </a:r>
            <a:r>
              <a:rPr lang="en-US" sz="2800" dirty="0"/>
              <a:t> </a:t>
            </a:r>
            <a:r>
              <a:rPr lang="en-US" sz="2800" b="1" dirty="0"/>
              <a:t>class, object, inheritance, encapsulation, polymorphism,</a:t>
            </a:r>
            <a:r>
              <a:rPr lang="en-US" sz="2800" dirty="0"/>
              <a:t> dan </a:t>
            </a:r>
            <a:r>
              <a:rPr lang="en-US" sz="2800" b="1" dirty="0"/>
              <a:t>abstraction</a:t>
            </a:r>
            <a:r>
              <a:rPr lang="en-US" sz="2800" dirty="0"/>
              <a:t>.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7545938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Tugas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4536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nn-NO" sz="2800" dirty="0"/>
              <a:t>Struktur File yang Harus Dibuat:</a:t>
            </a:r>
            <a:r>
              <a:rPr lang="en-US" sz="2800" dirty="0"/>
              <a:t> 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800" dirty="0" err="1"/>
              <a:t>kendaraan.dart</a:t>
            </a:r>
            <a:r>
              <a:rPr lang="en-US" sz="2800" dirty="0"/>
              <a:t> – </a:t>
            </a:r>
            <a:r>
              <a:rPr lang="en-US" sz="2800" dirty="0" err="1"/>
              <a:t>Berisi</a:t>
            </a:r>
            <a:r>
              <a:rPr lang="en-US" sz="2800" dirty="0"/>
              <a:t> abstract class </a:t>
            </a:r>
            <a:r>
              <a:rPr lang="en-US" sz="2800" dirty="0" err="1"/>
              <a:t>Kendaraan</a:t>
            </a:r>
            <a:endParaRPr lang="en-US" sz="2800" dirty="0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800" dirty="0" err="1"/>
              <a:t>mobil.dart</a:t>
            </a:r>
            <a:r>
              <a:rPr lang="en-US" sz="2800" dirty="0"/>
              <a:t> – </a:t>
            </a:r>
            <a:r>
              <a:rPr lang="en-US" sz="2800" dirty="0" err="1"/>
              <a:t>Berisi</a:t>
            </a:r>
            <a:r>
              <a:rPr lang="en-US" sz="2800" dirty="0"/>
              <a:t> class Mobil, </a:t>
            </a:r>
            <a:r>
              <a:rPr lang="en-US" sz="2800" dirty="0" err="1"/>
              <a:t>turunan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Kendaraan</a:t>
            </a:r>
            <a:endParaRPr lang="en-US" sz="2800" dirty="0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800" dirty="0" err="1"/>
              <a:t>motor.dart</a:t>
            </a:r>
            <a:r>
              <a:rPr lang="en-US" sz="2800" dirty="0"/>
              <a:t> – </a:t>
            </a:r>
            <a:r>
              <a:rPr lang="en-US" sz="2800" dirty="0" err="1"/>
              <a:t>Berisi</a:t>
            </a:r>
            <a:r>
              <a:rPr lang="en-US" sz="2800" dirty="0"/>
              <a:t> class Motor, </a:t>
            </a:r>
            <a:r>
              <a:rPr lang="en-US" sz="2800" dirty="0" err="1"/>
              <a:t>turunan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kendaraan</a:t>
            </a:r>
            <a:r>
              <a:rPr lang="en-US" sz="2800" dirty="0"/>
              <a:t> 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800" dirty="0" err="1"/>
              <a:t>garasi.dart</a:t>
            </a:r>
            <a:r>
              <a:rPr lang="en-US" sz="2800" dirty="0"/>
              <a:t> – </a:t>
            </a:r>
            <a:r>
              <a:rPr lang="en-US" sz="2800" dirty="0" err="1"/>
              <a:t>Berisi</a:t>
            </a:r>
            <a:r>
              <a:rPr lang="en-US" sz="2800" dirty="0"/>
              <a:t> class </a:t>
            </a:r>
            <a:r>
              <a:rPr lang="en-US" sz="2800" dirty="0" err="1"/>
              <a:t>Garasi</a:t>
            </a:r>
            <a:r>
              <a:rPr lang="en-US" sz="2800" dirty="0"/>
              <a:t>,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menyimpan</a:t>
            </a:r>
            <a:r>
              <a:rPr lang="en-US" sz="2800" dirty="0"/>
              <a:t> daftar </a:t>
            </a:r>
            <a:r>
              <a:rPr lang="en-US" sz="2800" dirty="0" err="1"/>
              <a:t>kendaraan</a:t>
            </a:r>
            <a:endParaRPr lang="en-US" sz="2800" dirty="0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800" dirty="0" err="1"/>
              <a:t>main.dart</a:t>
            </a:r>
            <a:r>
              <a:rPr lang="en-US" sz="2800" dirty="0"/>
              <a:t> – Program </a:t>
            </a:r>
            <a:r>
              <a:rPr lang="en-US" sz="2800" dirty="0" err="1"/>
              <a:t>utama</a:t>
            </a:r>
            <a:r>
              <a:rPr lang="en-US" sz="2800" dirty="0"/>
              <a:t> </a:t>
            </a:r>
            <a:r>
              <a:rPr lang="en-US" sz="2800" dirty="0" err="1"/>
              <a:t>menjalankan</a:t>
            </a:r>
            <a:r>
              <a:rPr lang="en-US" sz="2800" dirty="0"/>
              <a:t> </a:t>
            </a:r>
            <a:r>
              <a:rPr lang="en-US" sz="2800" dirty="0" err="1"/>
              <a:t>sistem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23073706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defTabSz="829544">
              <a:defRPr/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Tugas</a:t>
            </a:r>
            <a:endParaRPr lang="id-ID" sz="3992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4E3AA-EE9B-4A97-A35F-5F68F5A42643}"/>
              </a:ext>
            </a:extLst>
          </p:cNvPr>
          <p:cNvSpPr txBox="1"/>
          <p:nvPr/>
        </p:nvSpPr>
        <p:spPr>
          <a:xfrm>
            <a:off x="956332" y="1742007"/>
            <a:ext cx="10223921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nn-NO" sz="2400" dirty="0"/>
              <a:t>Hasil yang diharapkan</a:t>
            </a:r>
          </a:p>
          <a:p>
            <a:pPr algn="just">
              <a:lnSpc>
                <a:spcPct val="150000"/>
              </a:lnSpc>
            </a:pPr>
            <a:r>
              <a:rPr lang="nn-NO" sz="2400" dirty="0"/>
              <a:t>Menambahkan kendaraan ke garasi...</a:t>
            </a:r>
          </a:p>
          <a:p>
            <a:pPr algn="just">
              <a:lnSpc>
                <a:spcPct val="150000"/>
              </a:lnSpc>
            </a:pPr>
            <a:r>
              <a:rPr lang="nn-NO" sz="2400" dirty="0"/>
              <a:t>Daftar Kendaraan di Garasi:</a:t>
            </a:r>
          </a:p>
          <a:p>
            <a:pPr algn="just">
              <a:lnSpc>
                <a:spcPct val="150000"/>
              </a:lnSpc>
            </a:pPr>
            <a:r>
              <a:rPr lang="nn-NO" sz="2400" dirty="0"/>
              <a:t>- Mobil: Toyota Camry (2022) - 4 Pintu</a:t>
            </a:r>
          </a:p>
          <a:p>
            <a:pPr algn="just">
              <a:lnSpc>
                <a:spcPct val="150000"/>
              </a:lnSpc>
            </a:pPr>
            <a:r>
              <a:rPr lang="nn-NO" sz="2400" dirty="0"/>
              <a:t>- Motor: Yamaha R15 (2020) - Tanpa Keranjang</a:t>
            </a:r>
          </a:p>
          <a:p>
            <a:pPr algn="just">
              <a:lnSpc>
                <a:spcPct val="150000"/>
              </a:lnSpc>
            </a:pPr>
            <a:endParaRPr lang="nn-NO" sz="2400" dirty="0"/>
          </a:p>
          <a:p>
            <a:pPr algn="just">
              <a:lnSpc>
                <a:spcPct val="150000"/>
              </a:lnSpc>
            </a:pPr>
            <a:r>
              <a:rPr lang="nn-NO" sz="2400" dirty="0"/>
              <a:t>Melakukan servis untuk semua kendaraan...</a:t>
            </a:r>
          </a:p>
          <a:p>
            <a:pPr algn="just">
              <a:lnSpc>
                <a:spcPct val="150000"/>
              </a:lnSpc>
            </a:pPr>
            <a:r>
              <a:rPr lang="nn-NO" sz="2400" dirty="0"/>
              <a:t>Servis mobil Toyota Camry dilakukan.</a:t>
            </a:r>
          </a:p>
          <a:p>
            <a:pPr algn="just">
              <a:lnSpc>
                <a:spcPct val="150000"/>
              </a:lnSpc>
            </a:pPr>
            <a:r>
              <a:rPr lang="nn-NO" sz="2400" dirty="0"/>
              <a:t>Servis motor Yamaha R15 dilakukan.</a:t>
            </a:r>
          </a:p>
        </p:txBody>
      </p:sp>
    </p:spTree>
    <p:extLst>
      <p:ext uri="{BB962C8B-B14F-4D97-AF65-F5344CB8AC3E}">
        <p14:creationId xmlns:p14="http://schemas.microsoft.com/office/powerpoint/2010/main" val="40997967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1197107" y="110060"/>
            <a:ext cx="9795931" cy="1144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992" b="1" spc="-1" dirty="0" err="1">
                <a:solidFill>
                  <a:srgbClr val="FFFFFF"/>
                </a:solidFill>
                <a:latin typeface="Arial"/>
                <a:ea typeface="DejaVu Sans"/>
              </a:rPr>
              <a:t>Referensi</a:t>
            </a:r>
            <a:endParaRPr lang="id-ID" sz="3992" spc="-1" dirty="0">
              <a:latin typeface="Arial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1197107" y="1742007"/>
            <a:ext cx="9742371" cy="42302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910" indent="-293606">
              <a:spcAft>
                <a:spcPts val="1276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endParaRPr lang="id-ID" sz="2903" spc="-1" dirty="0"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0B220D-F209-4662-8757-3257C7A757F5}"/>
              </a:ext>
            </a:extLst>
          </p:cNvPr>
          <p:cNvSpPr/>
          <p:nvPr/>
        </p:nvSpPr>
        <p:spPr>
          <a:xfrm>
            <a:off x="1197107" y="1851468"/>
            <a:ext cx="9742371" cy="2379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1910" indent="-293606">
              <a:spcAft>
                <a:spcPts val="1276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ID" sz="29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https://dart-tutorial.com/</a:t>
            </a:r>
            <a:endParaRPr lang="en-US" sz="2903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910" indent="-293606">
              <a:spcAft>
                <a:spcPts val="1276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id-ID" sz="2903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https://belajarflutter.com</a:t>
            </a:r>
            <a:r>
              <a:rPr lang="en-US" sz="2903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marL="391910" indent="-293606">
              <a:spcAft>
                <a:spcPts val="1276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id-ID" sz="2903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https://www.programmerzamannow.com/</a:t>
            </a:r>
          </a:p>
          <a:p>
            <a:pPr marL="391910" indent="-293606">
              <a:spcAft>
                <a:spcPts val="1276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endParaRPr lang="en-US" sz="290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</TotalTime>
  <Words>4461</Words>
  <Application>Microsoft Office PowerPoint</Application>
  <PresentationFormat>Widescreen</PresentationFormat>
  <Paragraphs>528</Paragraphs>
  <Slides>44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Arial</vt:lpstr>
      <vt:lpstr>Calibri</vt:lpstr>
      <vt:lpstr>Consolas</vt:lpstr>
      <vt:lpstr>Courier New</vt:lpstr>
      <vt:lpstr>Poppins</vt:lpstr>
      <vt:lpstr>Symbol</vt:lpstr>
      <vt:lpstr>Times New Roman</vt:lpstr>
      <vt:lpstr>Wingdings</vt:lpstr>
      <vt:lpstr>1_Office Theme</vt:lpstr>
      <vt:lpstr>Office Theme</vt:lpstr>
      <vt:lpstr>OOP  (Object Oriented Programming)</vt:lpstr>
      <vt:lpstr>Tujuan</vt:lpstr>
      <vt:lpstr>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Studi Kasus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Flutter</dc:title>
  <dc:creator>Asisten Arip</dc:creator>
  <cp:lastModifiedBy>Asisten Arip</cp:lastModifiedBy>
  <cp:revision>88</cp:revision>
  <dcterms:created xsi:type="dcterms:W3CDTF">2025-01-13T02:13:32Z</dcterms:created>
  <dcterms:modified xsi:type="dcterms:W3CDTF">2025-02-06T07:10:15Z</dcterms:modified>
</cp:coreProperties>
</file>